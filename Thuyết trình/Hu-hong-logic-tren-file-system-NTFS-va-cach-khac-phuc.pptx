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1.svg" ContentType="image/svg+xml"/>
  <Override PartName="/ppt/media/image13.svg" ContentType="image/svg+xml"/>
  <Override PartName="/ppt/media/image15.svg" ContentType="image/svg+xml"/>
  <Override PartName="/ppt/media/image17.svg" ContentType="image/svg+xml"/>
  <Override PartName="/ppt/media/image3.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63" r:id="rId6"/>
    <p:sldId id="264" r:id="rId7"/>
    <p:sldId id="265" r:id="rId8"/>
    <p:sldId id="266" r:id="rId9"/>
    <p:sldId id="274" r:id="rId10"/>
    <p:sldId id="267" r:id="rId11"/>
    <p:sldId id="268" r:id="rId12"/>
    <p:sldId id="269" r:id="rId13"/>
    <p:sldId id="270" r:id="rId14"/>
    <p:sldId id="271" r:id="rId15"/>
    <p:sldId id="273" r:id="rId16"/>
  </p:sldIdLst>
  <p:sldSz cx="14630400" cy="8229600"/>
  <p:notesSz cx="8229600" cy="14630400"/>
  <p:embeddedFontLst>
    <p:embeddedFont>
      <p:font typeface="ADLaM Display" panose="02010000000000000000" pitchFamily="2" charset="0"/>
      <p:regular r:id="rId20"/>
    </p:embeddedFont>
    <p:embeddedFont>
      <p:font typeface="Calibri" panose="020F0502020204030204" pitchFamily="34" charset="0"/>
      <p:regular r:id="rId21"/>
      <p:bold r:id="rId22"/>
      <p:italic r:id="rId23"/>
      <p:boldItalic r:id="rId24"/>
    </p:embeddedFont>
    <p:embeddedFont>
      <p:font typeface="Raleway Medium" pitchFamily="34" charset="-122"/>
      <p:regular r:id="rId25"/>
    </p:embeddedFont>
    <p:embeddedFont>
      <p:font typeface="Raleway Medium" pitchFamily="34" charset="-120"/>
      <p:regular r:id="rId26"/>
    </p:embeddedFont>
    <p:embeddedFont>
      <p:font typeface="Calibri Light" panose="020F0302020204030204" charset="0"/>
      <p:regular r:id="rId27"/>
      <p: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7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9.fntdata"/><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txBody>
          <a:bodyPr/>
          <a:lstStyle/>
          <a:p>
            <a:endParaRPr lang="en-US"/>
          </a:p>
        </p:txBody>
      </p:sp>
      <p:sp>
        <p:nvSpPr>
          <p:cNvPr id="3" name="Shape 1"/>
          <p:cNvSpPr/>
          <p:nvPr/>
        </p:nvSpPr>
        <p:spPr>
          <a:xfrm>
            <a:off x="0" y="0"/>
            <a:ext cx="14630400" cy="8229600"/>
          </a:xfrm>
          <a:prstGeom prst="rect">
            <a:avLst/>
          </a:prstGeom>
          <a:solidFill>
            <a:srgbClr val="27272B"/>
          </a:solidFill>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txBody>
          <a:bodyPr/>
          <a:lstStyle/>
          <a:p>
            <a:endParaRPr lang="en-US"/>
          </a:p>
        </p:txBody>
      </p:sp>
      <p:sp>
        <p:nvSpPr>
          <p:cNvPr id="3" name="Shape 1"/>
          <p:cNvSpPr/>
          <p:nvPr/>
        </p:nvSpPr>
        <p:spPr>
          <a:xfrm>
            <a:off x="0" y="0"/>
            <a:ext cx="14630400" cy="8229600"/>
          </a:xfrm>
          <a:prstGeom prst="rect">
            <a:avLst/>
          </a:prstGeom>
          <a:solidFill>
            <a:srgbClr val="27272B"/>
          </a:solidFill>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txBody>
          <a:bodyPr/>
          <a:lstStyle/>
          <a:p>
            <a:endParaRPr lang="en-US"/>
          </a:p>
        </p:txBody>
      </p:sp>
      <p:sp>
        <p:nvSpPr>
          <p:cNvPr id="3" name="Shape 1"/>
          <p:cNvSpPr/>
          <p:nvPr/>
        </p:nvSpPr>
        <p:spPr>
          <a:xfrm>
            <a:off x="0" y="0"/>
            <a:ext cx="14630400" cy="8229600"/>
          </a:xfrm>
          <a:prstGeom prst="rect">
            <a:avLst/>
          </a:prstGeom>
          <a:solidFill>
            <a:srgbClr val="27272B"/>
          </a:solidFill>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txBody>
          <a:bodyPr/>
          <a:lstStyle/>
          <a:p>
            <a:endParaRPr lang="en-US"/>
          </a:p>
        </p:txBody>
      </p:sp>
      <p:sp>
        <p:nvSpPr>
          <p:cNvPr id="3" name="Shape 1"/>
          <p:cNvSpPr/>
          <p:nvPr/>
        </p:nvSpPr>
        <p:spPr>
          <a:xfrm>
            <a:off x="0" y="0"/>
            <a:ext cx="14630400" cy="8229600"/>
          </a:xfrm>
          <a:prstGeom prst="rect">
            <a:avLst/>
          </a:prstGeom>
          <a:solidFill>
            <a:srgbClr val="27272B"/>
          </a:solidFill>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txBody>
          <a:bodyPr/>
          <a:lstStyle/>
          <a:p>
            <a:endParaRPr lang="en-US"/>
          </a:p>
        </p:txBody>
      </p:sp>
      <p:sp>
        <p:nvSpPr>
          <p:cNvPr id="3" name="Shape 1"/>
          <p:cNvSpPr/>
          <p:nvPr/>
        </p:nvSpPr>
        <p:spPr>
          <a:xfrm>
            <a:off x="0" y="0"/>
            <a:ext cx="14630400" cy="8229600"/>
          </a:xfrm>
          <a:prstGeom prst="rect">
            <a:avLst/>
          </a:prstGeom>
          <a:solidFill>
            <a:srgbClr val="27272B"/>
          </a:solidFill>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txBody>
          <a:bodyPr/>
          <a:lstStyle/>
          <a:p>
            <a:endParaRPr lang="en-US"/>
          </a:p>
        </p:txBody>
      </p:sp>
      <p:sp>
        <p:nvSpPr>
          <p:cNvPr id="3" name="Shape 1"/>
          <p:cNvSpPr/>
          <p:nvPr/>
        </p:nvSpPr>
        <p:spPr>
          <a:xfrm>
            <a:off x="0" y="0"/>
            <a:ext cx="14630400" cy="8229600"/>
          </a:xfrm>
          <a:prstGeom prst="rect">
            <a:avLst/>
          </a:prstGeom>
          <a:solidFill>
            <a:srgbClr val="27272B"/>
          </a:solidFill>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txBody>
          <a:bodyPr/>
          <a:lstStyle/>
          <a:p>
            <a:endParaRPr lang="en-US"/>
          </a:p>
        </p:txBody>
      </p:sp>
      <p:sp>
        <p:nvSpPr>
          <p:cNvPr id="3" name="Shape 1"/>
          <p:cNvSpPr/>
          <p:nvPr/>
        </p:nvSpPr>
        <p:spPr>
          <a:xfrm>
            <a:off x="0" y="0"/>
            <a:ext cx="14630400" cy="8229600"/>
          </a:xfrm>
          <a:prstGeom prst="rect">
            <a:avLst/>
          </a:prstGeom>
          <a:solidFill>
            <a:srgbClr val="27272B"/>
          </a:solidFill>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p:spPr>
      </p:sp>
      <p:sp>
        <p:nvSpPr>
          <p:cNvPr id="3" name="Shape 1"/>
          <p:cNvSpPr/>
          <p:nvPr/>
        </p:nvSpPr>
        <p:spPr>
          <a:xfrm>
            <a:off x="0" y="0"/>
            <a:ext cx="14630400" cy="8229600"/>
          </a:xfrm>
          <a:prstGeom prst="rect">
            <a:avLst/>
          </a:prstGeom>
          <a:solidFill>
            <a:srgbClr val="27272B"/>
          </a:solidFill>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2.xml"/><Relationship Id="rId21" Type="http://schemas.openxmlformats.org/officeDocument/2006/relationships/slideLayout" Target="../slideLayouts/slideLayout3.xml"/><Relationship Id="rId20" Type="http://schemas.openxmlformats.org/officeDocument/2006/relationships/tags" Target="../tags/tag18.xml"/><Relationship Id="rId2" Type="http://schemas.openxmlformats.org/officeDocument/2006/relationships/tags" Target="../tags/tag2.xml"/><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4" Type="http://schemas.openxmlformats.org/officeDocument/2006/relationships/notesSlide" Target="../notesSlides/notesSlide6.xml"/><Relationship Id="rId13" Type="http://schemas.openxmlformats.org/officeDocument/2006/relationships/slideLayout" Target="../slideLayouts/slideLayout12.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1.xml"/></Relationships>
</file>

<file path=ppt/slides/_rels/slide8.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image" Target="../media/image7.svg"/><Relationship Id="rId26" Type="http://schemas.openxmlformats.org/officeDocument/2006/relationships/notesSlide" Target="../notesSlides/notesSlide7.xml"/><Relationship Id="rId25" Type="http://schemas.openxmlformats.org/officeDocument/2006/relationships/slideLayout" Target="../slideLayouts/slideLayout13.xml"/><Relationship Id="rId24" Type="http://schemas.openxmlformats.org/officeDocument/2006/relationships/tags" Target="../tags/tag45.xml"/><Relationship Id="rId23" Type="http://schemas.openxmlformats.org/officeDocument/2006/relationships/image" Target="../media/image15.svg"/><Relationship Id="rId22" Type="http://schemas.openxmlformats.org/officeDocument/2006/relationships/image" Target="../media/image14.png"/><Relationship Id="rId21" Type="http://schemas.openxmlformats.org/officeDocument/2006/relationships/tags" Target="../tags/tag44.xml"/><Relationship Id="rId20" Type="http://schemas.openxmlformats.org/officeDocument/2006/relationships/tags" Target="../tags/tag43.xml"/><Relationship Id="rId2" Type="http://schemas.openxmlformats.org/officeDocument/2006/relationships/image" Target="../media/image6.png"/><Relationship Id="rId19" Type="http://schemas.openxmlformats.org/officeDocument/2006/relationships/tags" Target="../tags/tag42.xml"/><Relationship Id="rId18" Type="http://schemas.openxmlformats.org/officeDocument/2006/relationships/image" Target="../media/image13.svg"/><Relationship Id="rId17" Type="http://schemas.openxmlformats.org/officeDocument/2006/relationships/image" Target="../media/image12.png"/><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image" Target="../media/image11.svg"/><Relationship Id="rId12" Type="http://schemas.openxmlformats.org/officeDocument/2006/relationships/image" Target="../media/image10.png"/><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9.xml"/><Relationship Id="rId2" Type="http://schemas.openxmlformats.org/officeDocument/2006/relationships/image" Target="../media/image17.svg"/><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1" y="44286"/>
            <a:ext cx="14630400" cy="8229600"/>
          </a:xfrm>
          <a:prstGeom prst="rect">
            <a:avLst/>
          </a:prstGeom>
          <a:solidFill>
            <a:srgbClr val="27272B">
              <a:alpha val="80000"/>
            </a:srgbClr>
          </a:solidFill>
        </p:spPr>
        <p:txBody>
          <a:bodyPr/>
          <a:lstStyle/>
          <a:p>
            <a:endParaRPr lang="en-US" dirty="0"/>
          </a:p>
        </p:txBody>
      </p:sp>
      <p:sp>
        <p:nvSpPr>
          <p:cNvPr id="4" name="Text 1"/>
          <p:cNvSpPr/>
          <p:nvPr/>
        </p:nvSpPr>
        <p:spPr>
          <a:xfrm>
            <a:off x="881063" y="3270408"/>
            <a:ext cx="12868275" cy="1688783"/>
          </a:xfrm>
          <a:prstGeom prst="rect">
            <a:avLst/>
          </a:prstGeom>
          <a:noFill/>
        </p:spPr>
        <p:txBody>
          <a:bodyPr wrap="square" lIns="0" tIns="0" rIns="0" bIns="0" rtlCol="0" anchor="t"/>
          <a:lstStyle/>
          <a:p>
            <a:pPr marL="0" indent="0" algn="ctr">
              <a:lnSpc>
                <a:spcPts val="6600"/>
              </a:lnSpc>
              <a:buNone/>
            </a:pPr>
            <a:r>
              <a:rPr lang="en-US" sz="7200" b="1" dirty="0">
                <a:solidFill>
                  <a:srgbClr val="FFE14D"/>
                </a:solidFill>
                <a:latin typeface="+mj-lt"/>
                <a:ea typeface="ADLaM Display" panose="02010000000000000000" pitchFamily="2" charset="0"/>
                <a:cs typeface="ADLaM Display" panose="02010000000000000000" pitchFamily="2" charset="0"/>
              </a:rPr>
              <a:t>Hư hỏng logic trên file system NTFS và cách khắc phục</a:t>
            </a:r>
            <a:endParaRPr lang="en-US" sz="7200" dirty="0">
              <a:latin typeface="+mj-lt"/>
              <a:ea typeface="ADLaM Display" panose="02010000000000000000" pitchFamily="2" charset="0"/>
              <a:cs typeface="ADLaM Display" panose="02010000000000000000" pitchFamily="2" charset="0"/>
            </a:endParaRPr>
          </a:p>
        </p:txBody>
      </p:sp>
      <p:sp>
        <p:nvSpPr>
          <p:cNvPr id="5" name="Text 2"/>
          <p:cNvSpPr/>
          <p:nvPr/>
        </p:nvSpPr>
        <p:spPr>
          <a:xfrm>
            <a:off x="11497025" y="0"/>
            <a:ext cx="3133376" cy="440531"/>
          </a:xfrm>
          <a:prstGeom prst="rect">
            <a:avLst/>
          </a:prstGeom>
          <a:noFill/>
        </p:spPr>
        <p:txBody>
          <a:bodyPr wrap="none" lIns="0" tIns="0" rIns="0" bIns="0" rtlCol="0" anchor="t"/>
          <a:lstStyle/>
          <a:p>
            <a:pPr marL="0" indent="0" algn="l">
              <a:lnSpc>
                <a:spcPts val="3450"/>
              </a:lnSpc>
              <a:buNone/>
            </a:pPr>
            <a:r>
              <a:rPr lang="vi-VN" sz="2150" dirty="0">
                <a:solidFill>
                  <a:srgbClr val="D7D4CC"/>
                </a:solidFill>
                <a:latin typeface="Calibri" panose="020F0502020204030204" pitchFamily="34" charset="0"/>
                <a:ea typeface="Calibri" panose="020F0502020204030204" pitchFamily="34" charset="0"/>
                <a:cs typeface="Calibri" panose="020F0502020204030204" pitchFamily="34" charset="0"/>
              </a:rPr>
              <a:t>An</a:t>
            </a:r>
            <a:r>
              <a:rPr lang="en-US" sz="2150" dirty="0">
                <a:solidFill>
                  <a:srgbClr val="D7D4CC"/>
                </a:solidFill>
                <a:latin typeface="Calibri" panose="020F0502020204030204" pitchFamily="34" charset="0"/>
                <a:ea typeface="Calibri" panose="020F0502020204030204" pitchFamily="34" charset="0"/>
                <a:cs typeface="Calibri" panose="020F0502020204030204" pitchFamily="34" charset="0"/>
              </a:rPr>
              <a:t> toàn và Phục hồi Dữ liệu</a:t>
            </a:r>
            <a:endParaRPr lang="en-US" sz="215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3"/>
          <p:cNvSpPr/>
          <p:nvPr/>
        </p:nvSpPr>
        <p:spPr>
          <a:xfrm>
            <a:off x="881063" y="4471868"/>
            <a:ext cx="12868275" cy="704850"/>
          </a:xfrm>
          <a:prstGeom prst="rect">
            <a:avLst/>
          </a:prstGeom>
          <a:noFill/>
        </p:spPr>
        <p:txBody>
          <a:bodyPr wrap="square" lIns="0" tIns="0" rIns="0" bIns="0" rtlCol="0" anchor="t"/>
          <a:lstStyle/>
          <a:p>
            <a:pPr marL="0" indent="0" algn="l">
              <a:lnSpc>
                <a:spcPts val="2750"/>
              </a:lnSpc>
              <a:buNone/>
            </a:pPr>
            <a:endParaRPr lang="en-US" sz="1700" dirty="0"/>
          </a:p>
        </p:txBody>
      </p:sp>
      <p:sp>
        <p:nvSpPr>
          <p:cNvPr id="7" name="Text 4"/>
          <p:cNvSpPr/>
          <p:nvPr/>
        </p:nvSpPr>
        <p:spPr>
          <a:xfrm>
            <a:off x="167386" y="7662783"/>
            <a:ext cx="565079" cy="440531"/>
          </a:xfrm>
          <a:prstGeom prst="rect">
            <a:avLst/>
          </a:prstGeom>
          <a:noFill/>
        </p:spPr>
        <p:txBody>
          <a:bodyPr wrap="none" lIns="0" tIns="0" rIns="0" bIns="0" rtlCol="0" anchor="t"/>
          <a:lstStyle/>
          <a:p>
            <a:pPr marL="0" indent="0" algn="l">
              <a:lnSpc>
                <a:spcPts val="3450"/>
              </a:lnSpc>
              <a:buNone/>
            </a:pPr>
            <a:r>
              <a:rPr lang="vi-VN" sz="2150" dirty="0">
                <a:solidFill>
                  <a:srgbClr val="D7D4CC"/>
                </a:solidFill>
                <a:ea typeface="Raleway Medium" pitchFamily="34" charset="-122"/>
                <a:cs typeface="Raleway Medium" pitchFamily="34" charset="-120"/>
              </a:rPr>
              <a:t>1</a:t>
            </a:r>
            <a:endParaRPr lang="vi-VN" sz="2150" dirty="0">
              <a:solidFill>
                <a:srgbClr val="D7D4CC"/>
              </a:solidFill>
              <a:ea typeface="Raleway Medium" pitchFamily="34" charset="-122"/>
              <a:cs typeface="Raleway Medium" pitchFamily="34" charset="-120"/>
            </a:endParaRPr>
          </a:p>
        </p:txBody>
      </p:sp>
      <p:sp>
        <p:nvSpPr>
          <p:cNvPr id="8" name="Text 5"/>
          <p:cNvSpPr/>
          <p:nvPr/>
        </p:nvSpPr>
        <p:spPr>
          <a:xfrm>
            <a:off x="881063" y="6112788"/>
            <a:ext cx="12868275" cy="352425"/>
          </a:xfrm>
          <a:prstGeom prst="rect">
            <a:avLst/>
          </a:prstGeom>
          <a:noFill/>
        </p:spPr>
        <p:txBody>
          <a:bodyPr wrap="none" lIns="0" tIns="0" rIns="0" bIns="0" rtlCol="0" anchor="t"/>
          <a:lstStyle/>
          <a:p>
            <a:pPr marL="0" indent="0" algn="l">
              <a:lnSpc>
                <a:spcPts val="2750"/>
              </a:lnSpc>
              <a:buNone/>
            </a:pPr>
            <a:endParaRPr lang="en-US" sz="1700" dirty="0"/>
          </a:p>
        </p:txBody>
      </p:sp>
      <p:sp>
        <p:nvSpPr>
          <p:cNvPr id="9" name="Text 4"/>
          <p:cNvSpPr/>
          <p:nvPr/>
        </p:nvSpPr>
        <p:spPr>
          <a:xfrm>
            <a:off x="167386" y="27298"/>
            <a:ext cx="3880508" cy="440531"/>
          </a:xfrm>
          <a:prstGeom prst="rect">
            <a:avLst/>
          </a:prstGeom>
          <a:noFill/>
        </p:spPr>
        <p:txBody>
          <a:bodyPr wrap="none" lIns="0" tIns="0" rIns="0" bIns="0" rtlCol="0" anchor="t"/>
          <a:lstStyle/>
          <a:p>
            <a:pPr marL="0" indent="0" algn="l">
              <a:lnSpc>
                <a:spcPts val="3450"/>
              </a:lnSpc>
              <a:buNone/>
            </a:pPr>
            <a:r>
              <a:rPr lang="en-US" sz="2150" dirty="0">
                <a:solidFill>
                  <a:srgbClr val="D7D4CC"/>
                </a:solidFill>
                <a:ea typeface="Raleway Medium" pitchFamily="34" charset="-122"/>
                <a:cs typeface="Raleway Medium" pitchFamily="34" charset="-120"/>
              </a:rPr>
              <a:t>Trường Đại học Khoa học Tự nhiên</a:t>
            </a:r>
            <a:endParaRPr lang="en-US" sz="2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2627352"/>
            <a:ext cx="4895374" cy="611981"/>
          </a:xfrm>
          <a:prstGeom prst="rect">
            <a:avLst/>
          </a:prstGeom>
          <a:noFill/>
        </p:spPr>
        <p:txBody>
          <a:bodyPr wrap="none" lIns="0" tIns="0" rIns="0" bIns="0" rtlCol="0" anchor="t"/>
          <a:lstStyle/>
          <a:p>
            <a:pPr marL="0" indent="0" algn="l">
              <a:lnSpc>
                <a:spcPts val="4800"/>
              </a:lnSpc>
              <a:buNone/>
            </a:pPr>
            <a:r>
              <a:rPr lang="en-US" sz="4000" b="1" dirty="0">
                <a:solidFill>
                  <a:srgbClr val="FFE14D"/>
                </a:solidFill>
                <a:latin typeface="+mj-lt"/>
                <a:ea typeface="Comfortaa Bold" pitchFamily="34" charset="-122"/>
                <a:cs typeface="Comfortaa Bold" pitchFamily="34" charset="-120"/>
              </a:rPr>
              <a:t>Thành Viên Nhóm</a:t>
            </a:r>
            <a:endParaRPr lang="en-US" sz="4000" dirty="0">
              <a:latin typeface="+mj-lt"/>
            </a:endParaRPr>
          </a:p>
        </p:txBody>
      </p:sp>
      <p:sp>
        <p:nvSpPr>
          <p:cNvPr id="3" name="Shape 1"/>
          <p:cNvSpPr/>
          <p:nvPr>
            <p:custDataLst>
              <p:tags r:id="rId1"/>
            </p:custDataLst>
          </p:nvPr>
        </p:nvSpPr>
        <p:spPr>
          <a:xfrm>
            <a:off x="881063" y="4010263"/>
            <a:ext cx="4142542" cy="1591985"/>
          </a:xfrm>
          <a:prstGeom prst="roundRect">
            <a:avLst>
              <a:gd name="adj" fmla="val 9190"/>
            </a:avLst>
          </a:prstGeom>
          <a:solidFill>
            <a:srgbClr val="27272B"/>
          </a:solidFill>
        </p:spPr>
        <p:txBody>
          <a:bodyPr/>
          <a:lstStyle/>
          <a:p>
            <a:endParaRPr lang="en-US"/>
          </a:p>
        </p:txBody>
      </p:sp>
      <p:sp>
        <p:nvSpPr>
          <p:cNvPr id="4" name="Shape 2"/>
          <p:cNvSpPr/>
          <p:nvPr>
            <p:custDataLst>
              <p:tags r:id="rId2"/>
            </p:custDataLst>
          </p:nvPr>
        </p:nvSpPr>
        <p:spPr>
          <a:xfrm>
            <a:off x="881063" y="3979783"/>
            <a:ext cx="4142542" cy="121920"/>
          </a:xfrm>
          <a:prstGeom prst="roundRect">
            <a:avLst>
              <a:gd name="adj" fmla="val 271033"/>
            </a:avLst>
          </a:prstGeom>
          <a:solidFill>
            <a:srgbClr val="FFE14D"/>
          </a:solidFill>
        </p:spPr>
        <p:txBody>
          <a:bodyPr/>
          <a:lstStyle/>
          <a:p>
            <a:endParaRPr lang="en-US"/>
          </a:p>
        </p:txBody>
      </p:sp>
      <p:sp>
        <p:nvSpPr>
          <p:cNvPr id="5" name="Shape 3"/>
          <p:cNvSpPr/>
          <p:nvPr>
            <p:custDataLst>
              <p:tags r:id="rId3"/>
            </p:custDataLst>
          </p:nvPr>
        </p:nvSpPr>
        <p:spPr>
          <a:xfrm>
            <a:off x="2621875" y="3679865"/>
            <a:ext cx="660797" cy="660797"/>
          </a:xfrm>
          <a:prstGeom prst="roundRect">
            <a:avLst>
              <a:gd name="adj" fmla="val 138378"/>
            </a:avLst>
          </a:prstGeom>
          <a:solidFill>
            <a:srgbClr val="FFE14D"/>
          </a:solidFill>
        </p:spPr>
        <p:txBody>
          <a:bodyPr/>
          <a:lstStyle/>
          <a:p>
            <a:endParaRPr lang="en-US"/>
          </a:p>
        </p:txBody>
      </p:sp>
      <p:pic>
        <p:nvPicPr>
          <p:cNvPr id="6" name="Image 0" descr="preencoded.png"/>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2820114" y="3877985"/>
            <a:ext cx="264319" cy="264319"/>
          </a:xfrm>
          <a:prstGeom prst="rect">
            <a:avLst/>
          </a:prstGeom>
        </p:spPr>
      </p:pic>
      <p:sp>
        <p:nvSpPr>
          <p:cNvPr id="7" name="Text 4"/>
          <p:cNvSpPr/>
          <p:nvPr>
            <p:custDataLst>
              <p:tags r:id="rId7"/>
            </p:custDataLst>
          </p:nvPr>
        </p:nvSpPr>
        <p:spPr>
          <a:xfrm>
            <a:off x="1131808" y="4560927"/>
            <a:ext cx="2447687" cy="305991"/>
          </a:xfrm>
          <a:prstGeom prst="rect">
            <a:avLst/>
          </a:prstGeom>
          <a:noFill/>
        </p:spPr>
        <p:txBody>
          <a:bodyPr wrap="none" lIns="0" tIns="0" rIns="0" bIns="0" rtlCol="0" anchor="t"/>
          <a:lstStyle/>
          <a:p>
            <a:pPr marL="0" indent="0" algn="l">
              <a:lnSpc>
                <a:spcPts val="2400"/>
              </a:lnSpc>
              <a:buNone/>
            </a:pPr>
            <a:r>
              <a:rPr lang="en-US" sz="2400" b="1" dirty="0">
                <a:solidFill>
                  <a:srgbClr val="D7D4CC"/>
                </a:solidFill>
                <a:ea typeface="ADLaM Display" panose="02010000000000000000" pitchFamily="2" charset="0"/>
                <a:cs typeface="ADLaM Display" panose="02010000000000000000" pitchFamily="2" charset="0"/>
              </a:rPr>
              <a:t>Mai Nhựt Huy</a:t>
            </a:r>
            <a:endParaRPr lang="en-US" sz="2400" dirty="0">
              <a:ea typeface="ADLaM Display" panose="02010000000000000000" pitchFamily="2" charset="0"/>
              <a:cs typeface="ADLaM Display" panose="02010000000000000000" pitchFamily="2" charset="0"/>
            </a:endParaRPr>
          </a:p>
        </p:txBody>
      </p:sp>
      <p:sp>
        <p:nvSpPr>
          <p:cNvPr id="8" name="Text 5"/>
          <p:cNvSpPr/>
          <p:nvPr>
            <p:custDataLst>
              <p:tags r:id="rId8"/>
            </p:custDataLst>
          </p:nvPr>
        </p:nvSpPr>
        <p:spPr>
          <a:xfrm>
            <a:off x="1131808" y="4999077"/>
            <a:ext cx="3641050" cy="352425"/>
          </a:xfrm>
          <a:prstGeom prst="rect">
            <a:avLst/>
          </a:prstGeom>
          <a:noFill/>
        </p:spPr>
        <p:txBody>
          <a:bodyPr wrap="none" lIns="0" tIns="0" rIns="0" bIns="0" rtlCol="0" anchor="t"/>
          <a:lstStyle/>
          <a:p>
            <a:pPr marL="0" indent="0" algn="l">
              <a:lnSpc>
                <a:spcPts val="2750"/>
              </a:lnSpc>
              <a:buNone/>
            </a:pPr>
            <a:r>
              <a:rPr lang="en-US" dirty="0">
                <a:solidFill>
                  <a:srgbClr val="D7D4CC"/>
                </a:solidFill>
                <a:ea typeface="Raleway Medium" pitchFamily="34" charset="-122"/>
                <a:cs typeface="Raleway Medium" pitchFamily="34" charset="-120"/>
              </a:rPr>
              <a:t>22120136</a:t>
            </a:r>
            <a:endParaRPr lang="en-US" sz="1700" dirty="0"/>
          </a:p>
        </p:txBody>
      </p:sp>
      <p:sp>
        <p:nvSpPr>
          <p:cNvPr id="9" name="Shape 6"/>
          <p:cNvSpPr/>
          <p:nvPr>
            <p:custDataLst>
              <p:tags r:id="rId9"/>
            </p:custDataLst>
          </p:nvPr>
        </p:nvSpPr>
        <p:spPr>
          <a:xfrm>
            <a:off x="5243870" y="4010263"/>
            <a:ext cx="4142542" cy="1591985"/>
          </a:xfrm>
          <a:prstGeom prst="roundRect">
            <a:avLst>
              <a:gd name="adj" fmla="val 9190"/>
            </a:avLst>
          </a:prstGeom>
          <a:solidFill>
            <a:srgbClr val="27272B"/>
          </a:solidFill>
        </p:spPr>
        <p:txBody>
          <a:bodyPr/>
          <a:lstStyle/>
          <a:p>
            <a:endParaRPr lang="en-US"/>
          </a:p>
        </p:txBody>
      </p:sp>
      <p:sp>
        <p:nvSpPr>
          <p:cNvPr id="10" name="Shape 7"/>
          <p:cNvSpPr/>
          <p:nvPr>
            <p:custDataLst>
              <p:tags r:id="rId10"/>
            </p:custDataLst>
          </p:nvPr>
        </p:nvSpPr>
        <p:spPr>
          <a:xfrm>
            <a:off x="5243870" y="3979783"/>
            <a:ext cx="4142542" cy="121920"/>
          </a:xfrm>
          <a:prstGeom prst="roundRect">
            <a:avLst>
              <a:gd name="adj" fmla="val 271033"/>
            </a:avLst>
          </a:prstGeom>
          <a:solidFill>
            <a:srgbClr val="FFE14D"/>
          </a:solidFill>
        </p:spPr>
        <p:txBody>
          <a:bodyPr/>
          <a:lstStyle/>
          <a:p>
            <a:endParaRPr lang="en-US"/>
          </a:p>
        </p:txBody>
      </p:sp>
      <p:sp>
        <p:nvSpPr>
          <p:cNvPr id="11" name="Shape 8"/>
          <p:cNvSpPr/>
          <p:nvPr>
            <p:custDataLst>
              <p:tags r:id="rId11"/>
            </p:custDataLst>
          </p:nvPr>
        </p:nvSpPr>
        <p:spPr>
          <a:xfrm>
            <a:off x="6984682" y="3679865"/>
            <a:ext cx="660797" cy="660797"/>
          </a:xfrm>
          <a:prstGeom prst="roundRect">
            <a:avLst>
              <a:gd name="adj" fmla="val 138378"/>
            </a:avLst>
          </a:prstGeom>
          <a:solidFill>
            <a:srgbClr val="FFE14D"/>
          </a:solidFill>
        </p:spPr>
        <p:txBody>
          <a:bodyPr/>
          <a:lstStyle/>
          <a:p>
            <a:endParaRPr lang="en-US"/>
          </a:p>
        </p:txBody>
      </p:sp>
      <p:pic>
        <p:nvPicPr>
          <p:cNvPr id="12" name="Image 1" descr="preencoded.png"/>
          <p:cNvPicPr>
            <a:picLocks noChangeAspect="1"/>
          </p:cNvPicPr>
          <p:nvPr>
            <p:custDataLst>
              <p:tags r:id="rId12"/>
            </p:custDataLst>
          </p:nvPr>
        </p:nvPicPr>
        <p:blipFill>
          <a:blip r:embed="rId5">
            <a:extLst>
              <a:ext uri="{96DAC541-7B7A-43D3-8B79-37D633B846F1}">
                <asvg:svgBlip xmlns:asvg="http://schemas.microsoft.com/office/drawing/2016/SVG/main" r:embed="rId6"/>
              </a:ext>
            </a:extLst>
          </a:blip>
          <a:stretch>
            <a:fillRect/>
          </a:stretch>
        </p:blipFill>
        <p:spPr>
          <a:xfrm>
            <a:off x="7182922" y="3877985"/>
            <a:ext cx="264319" cy="264319"/>
          </a:xfrm>
          <a:prstGeom prst="rect">
            <a:avLst/>
          </a:prstGeom>
        </p:spPr>
      </p:pic>
      <p:sp>
        <p:nvSpPr>
          <p:cNvPr id="13" name="Text 9"/>
          <p:cNvSpPr/>
          <p:nvPr>
            <p:custDataLst>
              <p:tags r:id="rId13"/>
            </p:custDataLst>
          </p:nvPr>
        </p:nvSpPr>
        <p:spPr>
          <a:xfrm>
            <a:off x="5494615" y="4560927"/>
            <a:ext cx="2691884" cy="305991"/>
          </a:xfrm>
          <a:prstGeom prst="rect">
            <a:avLst/>
          </a:prstGeom>
          <a:noFill/>
        </p:spPr>
        <p:txBody>
          <a:bodyPr wrap="none" lIns="0" tIns="0" rIns="0" bIns="0" rtlCol="0" anchor="t"/>
          <a:lstStyle/>
          <a:p>
            <a:pPr marL="0" indent="0" algn="l">
              <a:lnSpc>
                <a:spcPts val="2400"/>
              </a:lnSpc>
              <a:buNone/>
            </a:pPr>
            <a:r>
              <a:rPr lang="en-US" sz="2400" b="1" dirty="0">
                <a:solidFill>
                  <a:srgbClr val="D7D4CC"/>
                </a:solidFill>
                <a:ea typeface="Comfortaa Bold" pitchFamily="34" charset="-122"/>
                <a:cs typeface="Comfortaa Bold" pitchFamily="34" charset="-120"/>
              </a:rPr>
              <a:t>Võ Nguyễn Song Huy</a:t>
            </a:r>
            <a:endParaRPr lang="en-US" sz="2400" dirty="0"/>
          </a:p>
        </p:txBody>
      </p:sp>
      <p:sp>
        <p:nvSpPr>
          <p:cNvPr id="14" name="Text 10"/>
          <p:cNvSpPr/>
          <p:nvPr>
            <p:custDataLst>
              <p:tags r:id="rId14"/>
            </p:custDataLst>
          </p:nvPr>
        </p:nvSpPr>
        <p:spPr>
          <a:xfrm>
            <a:off x="5494615" y="4999077"/>
            <a:ext cx="3641050" cy="352425"/>
          </a:xfrm>
          <a:prstGeom prst="rect">
            <a:avLst/>
          </a:prstGeom>
          <a:noFill/>
        </p:spPr>
        <p:txBody>
          <a:bodyPr wrap="none" lIns="0" tIns="0" rIns="0" bIns="0" rtlCol="0" anchor="t"/>
          <a:lstStyle/>
          <a:p>
            <a:pPr marL="0" indent="0" algn="l">
              <a:lnSpc>
                <a:spcPts val="2750"/>
              </a:lnSpc>
              <a:buNone/>
            </a:pPr>
            <a:r>
              <a:rPr lang="en-US" dirty="0">
                <a:solidFill>
                  <a:srgbClr val="D7D4CC"/>
                </a:solidFill>
                <a:ea typeface="Raleway Medium" pitchFamily="34" charset="-122"/>
                <a:cs typeface="Raleway Medium" pitchFamily="34" charset="-120"/>
              </a:rPr>
              <a:t>22120141</a:t>
            </a:r>
            <a:endParaRPr lang="en-US" sz="1700" dirty="0"/>
          </a:p>
        </p:txBody>
      </p:sp>
      <p:sp>
        <p:nvSpPr>
          <p:cNvPr id="15" name="Shape 11"/>
          <p:cNvSpPr/>
          <p:nvPr>
            <p:custDataLst>
              <p:tags r:id="rId15"/>
            </p:custDataLst>
          </p:nvPr>
        </p:nvSpPr>
        <p:spPr>
          <a:xfrm>
            <a:off x="9606677" y="4010263"/>
            <a:ext cx="4142542" cy="1591985"/>
          </a:xfrm>
          <a:prstGeom prst="roundRect">
            <a:avLst>
              <a:gd name="adj" fmla="val 9190"/>
            </a:avLst>
          </a:prstGeom>
          <a:solidFill>
            <a:srgbClr val="27272B"/>
          </a:solidFill>
        </p:spPr>
        <p:txBody>
          <a:bodyPr/>
          <a:lstStyle/>
          <a:p>
            <a:endParaRPr lang="en-US"/>
          </a:p>
        </p:txBody>
      </p:sp>
      <p:sp>
        <p:nvSpPr>
          <p:cNvPr id="16" name="Shape 12"/>
          <p:cNvSpPr/>
          <p:nvPr>
            <p:custDataLst>
              <p:tags r:id="rId16"/>
            </p:custDataLst>
          </p:nvPr>
        </p:nvSpPr>
        <p:spPr>
          <a:xfrm>
            <a:off x="9606677" y="3979783"/>
            <a:ext cx="4142542" cy="121920"/>
          </a:xfrm>
          <a:prstGeom prst="roundRect">
            <a:avLst>
              <a:gd name="adj" fmla="val 271033"/>
            </a:avLst>
          </a:prstGeom>
          <a:solidFill>
            <a:srgbClr val="FFE14D"/>
          </a:solidFill>
        </p:spPr>
        <p:txBody>
          <a:bodyPr/>
          <a:lstStyle/>
          <a:p>
            <a:endParaRPr lang="en-US"/>
          </a:p>
        </p:txBody>
      </p:sp>
      <p:sp>
        <p:nvSpPr>
          <p:cNvPr id="17" name="Shape 13"/>
          <p:cNvSpPr/>
          <p:nvPr>
            <p:custDataLst>
              <p:tags r:id="rId17"/>
            </p:custDataLst>
          </p:nvPr>
        </p:nvSpPr>
        <p:spPr>
          <a:xfrm>
            <a:off x="11347490" y="3679865"/>
            <a:ext cx="660797" cy="660797"/>
          </a:xfrm>
          <a:prstGeom prst="roundRect">
            <a:avLst>
              <a:gd name="adj" fmla="val 138378"/>
            </a:avLst>
          </a:prstGeom>
          <a:solidFill>
            <a:srgbClr val="FFE14D"/>
          </a:solidFill>
        </p:spPr>
        <p:txBody>
          <a:bodyPr/>
          <a:lstStyle/>
          <a:p>
            <a:endParaRPr lang="en-US"/>
          </a:p>
        </p:txBody>
      </p:sp>
      <p:pic>
        <p:nvPicPr>
          <p:cNvPr id="18" name="Image 2" descr="preencoded.png"/>
          <p:cNvPicPr>
            <a:picLocks noChangeAspect="1"/>
          </p:cNvPicPr>
          <p:nvPr>
            <p:custDataLst>
              <p:tags r:id="rId18"/>
            </p:custDataLst>
          </p:nvPr>
        </p:nvPicPr>
        <p:blipFill>
          <a:blip r:embed="rId5">
            <a:extLst>
              <a:ext uri="{96DAC541-7B7A-43D3-8B79-37D633B846F1}">
                <asvg:svgBlip xmlns:asvg="http://schemas.microsoft.com/office/drawing/2016/SVG/main" r:embed="rId6"/>
              </a:ext>
            </a:extLst>
          </a:blip>
          <a:stretch>
            <a:fillRect/>
          </a:stretch>
        </p:blipFill>
        <p:spPr>
          <a:xfrm>
            <a:off x="11545729" y="3877985"/>
            <a:ext cx="264319" cy="264319"/>
          </a:xfrm>
          <a:prstGeom prst="rect">
            <a:avLst/>
          </a:prstGeom>
        </p:spPr>
      </p:pic>
      <p:sp>
        <p:nvSpPr>
          <p:cNvPr id="19" name="Text 14"/>
          <p:cNvSpPr/>
          <p:nvPr>
            <p:custDataLst>
              <p:tags r:id="rId19"/>
            </p:custDataLst>
          </p:nvPr>
        </p:nvSpPr>
        <p:spPr>
          <a:xfrm>
            <a:off x="9857423" y="4560927"/>
            <a:ext cx="2447687" cy="305991"/>
          </a:xfrm>
          <a:prstGeom prst="rect">
            <a:avLst/>
          </a:prstGeom>
          <a:noFill/>
        </p:spPr>
        <p:txBody>
          <a:bodyPr wrap="none" lIns="0" tIns="0" rIns="0" bIns="0" rtlCol="0" anchor="t"/>
          <a:lstStyle/>
          <a:p>
            <a:pPr marL="0" indent="0" algn="l">
              <a:lnSpc>
                <a:spcPts val="2400"/>
              </a:lnSpc>
              <a:buNone/>
            </a:pPr>
            <a:r>
              <a:rPr lang="en-US" sz="2400" b="1" dirty="0">
                <a:solidFill>
                  <a:srgbClr val="D7D4CC"/>
                </a:solidFill>
                <a:ea typeface="Comfortaa Bold" pitchFamily="34" charset="-122"/>
                <a:cs typeface="Comfortaa Bold" pitchFamily="34" charset="-120"/>
              </a:rPr>
              <a:t>Vy Quốc Huy</a:t>
            </a:r>
            <a:endParaRPr lang="en-US" sz="2400" dirty="0"/>
          </a:p>
        </p:txBody>
      </p:sp>
      <p:sp>
        <p:nvSpPr>
          <p:cNvPr id="20" name="Text 15"/>
          <p:cNvSpPr/>
          <p:nvPr>
            <p:custDataLst>
              <p:tags r:id="rId20"/>
            </p:custDataLst>
          </p:nvPr>
        </p:nvSpPr>
        <p:spPr>
          <a:xfrm>
            <a:off x="9857423" y="4999077"/>
            <a:ext cx="3641050" cy="352425"/>
          </a:xfrm>
          <a:prstGeom prst="rect">
            <a:avLst/>
          </a:prstGeom>
          <a:noFill/>
        </p:spPr>
        <p:txBody>
          <a:bodyPr wrap="none" lIns="0" tIns="0" rIns="0" bIns="0" rtlCol="0" anchor="t"/>
          <a:lstStyle/>
          <a:p>
            <a:pPr marL="0" indent="0" algn="l">
              <a:lnSpc>
                <a:spcPts val="2750"/>
              </a:lnSpc>
              <a:buNone/>
            </a:pPr>
            <a:r>
              <a:rPr lang="en-US" dirty="0">
                <a:solidFill>
                  <a:srgbClr val="D7D4CC"/>
                </a:solidFill>
                <a:ea typeface="Raleway Medium" pitchFamily="34" charset="-122"/>
                <a:cs typeface="Raleway Medium" pitchFamily="34" charset="-120"/>
              </a:rPr>
              <a:t>22120142</a:t>
            </a:r>
            <a:endParaRPr lang="en-US" sz="1700" dirty="0"/>
          </a:p>
        </p:txBody>
      </p:sp>
      <p:sp>
        <p:nvSpPr>
          <p:cNvPr id="23" name="TextBox 22"/>
          <p:cNvSpPr txBox="1"/>
          <p:nvPr/>
        </p:nvSpPr>
        <p:spPr>
          <a:xfrm>
            <a:off x="193228" y="7576234"/>
            <a:ext cx="7315200" cy="481542"/>
          </a:xfrm>
          <a:prstGeom prst="rect">
            <a:avLst/>
          </a:prstGeom>
          <a:noFill/>
        </p:spPr>
        <p:txBody>
          <a:bodyPr wrap="square">
            <a:spAutoFit/>
          </a:bodyPr>
          <a:lstStyle/>
          <a:p>
            <a:pPr marL="0" indent="0" algn="l">
              <a:lnSpc>
                <a:spcPts val="3450"/>
              </a:lnSpc>
              <a:buNone/>
            </a:pPr>
            <a:r>
              <a:rPr lang="vi-VN" dirty="0">
                <a:solidFill>
                  <a:srgbClr val="D7D4CC"/>
                </a:solidFill>
                <a:ea typeface="Raleway Medium" pitchFamily="34" charset="-122"/>
                <a:cs typeface="Raleway Medium" pitchFamily="34" charset="-120"/>
              </a:rPr>
              <a:t>2</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81063" y="1980248"/>
            <a:ext cx="7381875" cy="1223963"/>
          </a:xfrm>
          <a:prstGeom prst="rect">
            <a:avLst/>
          </a:prstGeom>
          <a:noFill/>
        </p:spPr>
        <p:txBody>
          <a:bodyPr wrap="square" lIns="0" tIns="0" rIns="0" bIns="0" rtlCol="0" anchor="t"/>
          <a:lstStyle/>
          <a:p>
            <a:pPr marL="0" indent="0" algn="l">
              <a:lnSpc>
                <a:spcPts val="4800"/>
              </a:lnSpc>
              <a:buNone/>
            </a:pPr>
            <a:r>
              <a:rPr lang="en-US" sz="4000" b="1" dirty="0">
                <a:solidFill>
                  <a:srgbClr val="FFE14D"/>
                </a:solidFill>
                <a:latin typeface="+mj-lt"/>
                <a:ea typeface="Comfortaa Bold" pitchFamily="34" charset="-122"/>
                <a:cs typeface="Comfortaa Bold" pitchFamily="34" charset="-120"/>
              </a:rPr>
              <a:t>NTFS: Hệ Thống Tập Tin Hiện Đại</a:t>
            </a:r>
            <a:endParaRPr lang="en-US" sz="4000" dirty="0">
              <a:latin typeface="+mj-lt"/>
            </a:endParaRPr>
          </a:p>
        </p:txBody>
      </p:sp>
      <p:sp>
        <p:nvSpPr>
          <p:cNvPr id="4" name="Text 1"/>
          <p:cNvSpPr/>
          <p:nvPr/>
        </p:nvSpPr>
        <p:spPr>
          <a:xfrm>
            <a:off x="881063" y="3534608"/>
            <a:ext cx="7381875" cy="1409700"/>
          </a:xfrm>
          <a:prstGeom prst="rect">
            <a:avLst/>
          </a:prstGeom>
          <a:noFill/>
        </p:spPr>
        <p:txBody>
          <a:bodyPr wrap="square" lIns="0" tIns="0" rIns="0" bIns="0" rtlCol="0" anchor="t"/>
          <a:lstStyle/>
          <a:p>
            <a:pPr marL="0" indent="0" algn="just">
              <a:lnSpc>
                <a:spcPts val="2750"/>
              </a:lnSpc>
              <a:buNone/>
            </a:pPr>
            <a:r>
              <a:rPr lang="en-US" b="1" dirty="0">
                <a:solidFill>
                  <a:srgbClr val="D7D4CC"/>
                </a:solidFill>
                <a:ea typeface="Raleway Medium" pitchFamily="34" charset="-122"/>
                <a:cs typeface="Raleway Medium" pitchFamily="34" charset="-120"/>
              </a:rPr>
              <a:t>NTFS (New Technology File System)</a:t>
            </a:r>
            <a:r>
              <a:rPr lang="en-US" dirty="0">
                <a:solidFill>
                  <a:srgbClr val="D7D4CC"/>
                </a:solidFill>
                <a:ea typeface="Raleway Medium" pitchFamily="34" charset="-122"/>
                <a:cs typeface="Raleway Medium" pitchFamily="34" charset="-120"/>
              </a:rPr>
              <a:t> là hệ thống tập tin tiêu chuẩn của Windows NT và các phiên bản Windows hiện đại. Nó được thiết kế để khắc phục những hạn chế của FAT như bảo mật yếu, giới hạn kích thước file, và khả năng phục hồi thấp.</a:t>
            </a:r>
            <a:endParaRPr lang="en-US" dirty="0"/>
          </a:p>
        </p:txBody>
      </p:sp>
      <p:sp>
        <p:nvSpPr>
          <p:cNvPr id="5" name="Text 2"/>
          <p:cNvSpPr/>
          <p:nvPr/>
        </p:nvSpPr>
        <p:spPr>
          <a:xfrm>
            <a:off x="881063" y="5192078"/>
            <a:ext cx="7381875" cy="1057275"/>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Nguyên tắc thiết kế cốt lõi của NTFS là: </a:t>
            </a:r>
            <a:r>
              <a:rPr lang="en-US" b="1" dirty="0">
                <a:solidFill>
                  <a:srgbClr val="D7D4CC"/>
                </a:solidFill>
                <a:ea typeface="Raleway Medium" pitchFamily="34" charset="-122"/>
                <a:cs typeface="Raleway Medium" pitchFamily="34" charset="-120"/>
              </a:rPr>
              <a:t>"Mọi thứ trên volume đều là một tập tin"</a:t>
            </a:r>
            <a:r>
              <a:rPr lang="en-US" dirty="0">
                <a:solidFill>
                  <a:srgbClr val="D7D4CC"/>
                </a:solidFill>
                <a:ea typeface="Raleway Medium" pitchFamily="34" charset="-122"/>
                <a:cs typeface="Raleway Medium" pitchFamily="34" charset="-120"/>
              </a:rPr>
              <a:t>. Ngay cả các cấu trúc quản lý hệ thống cũng được lưu trữ dưới dạng các tập tin đặc biệt gọi là metafile (bắt đầu bằng ký tự $).</a:t>
            </a:r>
            <a:endParaRPr lang="en-US" dirty="0"/>
          </a:p>
        </p:txBody>
      </p:sp>
      <p:sp>
        <p:nvSpPr>
          <p:cNvPr id="7" name="TextBox 6"/>
          <p:cNvSpPr txBox="1"/>
          <p:nvPr/>
        </p:nvSpPr>
        <p:spPr>
          <a:xfrm>
            <a:off x="154113" y="7654919"/>
            <a:ext cx="7315200" cy="481542"/>
          </a:xfrm>
          <a:prstGeom prst="rect">
            <a:avLst/>
          </a:prstGeom>
          <a:noFill/>
        </p:spPr>
        <p:txBody>
          <a:bodyPr wrap="square">
            <a:spAutoFit/>
          </a:bodyPr>
          <a:lstStyle/>
          <a:p>
            <a:pPr marL="0" indent="0" algn="l">
              <a:lnSpc>
                <a:spcPts val="3450"/>
              </a:lnSpc>
              <a:buNone/>
            </a:pPr>
            <a:r>
              <a:rPr lang="vi-VN" dirty="0">
                <a:solidFill>
                  <a:srgbClr val="D7D4CC"/>
                </a:solidFill>
                <a:ea typeface="Raleway Medium" pitchFamily="34" charset="-122"/>
                <a:cs typeface="Raleway Medium" pitchFamily="34" charset="-120"/>
              </a:rPr>
              <a:t>3</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775276"/>
            <a:ext cx="11057573" cy="611981"/>
          </a:xfrm>
          <a:prstGeom prst="rect">
            <a:avLst/>
          </a:prstGeom>
          <a:noFill/>
        </p:spPr>
        <p:txBody>
          <a:bodyPr wrap="none" lIns="0" tIns="0" rIns="0" bIns="0" rtlCol="0" anchor="t"/>
          <a:lstStyle/>
          <a:p>
            <a:pPr marL="0" indent="0" algn="l">
              <a:lnSpc>
                <a:spcPts val="4800"/>
              </a:lnSpc>
              <a:buNone/>
            </a:pPr>
            <a:r>
              <a:rPr lang="en-US" sz="4000" b="1" dirty="0">
                <a:solidFill>
                  <a:srgbClr val="FFE14D"/>
                </a:solidFill>
                <a:latin typeface="+mj-lt"/>
                <a:ea typeface="Comfortaa Bold" pitchFamily="34" charset="-122"/>
                <a:cs typeface="Comfortaa Bold" pitchFamily="34" charset="-120"/>
              </a:rPr>
              <a:t>Cấu Trúc Volume NTFS và Master File Table	</a:t>
            </a:r>
            <a:endParaRPr lang="en-US" sz="4000" dirty="0">
              <a:latin typeface="+mj-lt"/>
            </a:endParaRPr>
          </a:p>
        </p:txBody>
      </p:sp>
      <p:sp>
        <p:nvSpPr>
          <p:cNvPr id="3" name="Text 1"/>
          <p:cNvSpPr/>
          <p:nvPr/>
        </p:nvSpPr>
        <p:spPr>
          <a:xfrm>
            <a:off x="881063" y="1790184"/>
            <a:ext cx="2447687" cy="305991"/>
          </a:xfrm>
          <a:prstGeom prst="rect">
            <a:avLst/>
          </a:prstGeom>
          <a:noFill/>
        </p:spPr>
        <p:txBody>
          <a:bodyPr wrap="none" lIns="0" tIns="0" rIns="0" bIns="0" rtlCol="0" anchor="t"/>
          <a:lstStyle/>
          <a:p>
            <a:pPr marL="0" indent="0" algn="l">
              <a:lnSpc>
                <a:spcPts val="2400"/>
              </a:lnSpc>
              <a:buNone/>
            </a:pPr>
            <a:r>
              <a:rPr lang="en-US" sz="2000" b="1" dirty="0">
                <a:solidFill>
                  <a:srgbClr val="FFE14D"/>
                </a:solidFill>
                <a:latin typeface="+mj-lt"/>
                <a:ea typeface="Comfortaa Bold" pitchFamily="34" charset="-122"/>
                <a:cs typeface="Comfortaa Bold" pitchFamily="34" charset="-120"/>
              </a:rPr>
              <a:t>Chia Vùng Volume</a:t>
            </a:r>
            <a:endParaRPr lang="en-US" sz="2000" dirty="0">
              <a:latin typeface="+mj-lt"/>
            </a:endParaRPr>
          </a:p>
        </p:txBody>
      </p:sp>
      <p:sp>
        <p:nvSpPr>
          <p:cNvPr id="4" name="Text 2"/>
          <p:cNvSpPr/>
          <p:nvPr/>
        </p:nvSpPr>
        <p:spPr>
          <a:xfrm>
            <a:off x="881063" y="2567265"/>
            <a:ext cx="6165413" cy="704850"/>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Khi định dạng volume NTFS, đĩa được chia thành hai vùng chính:</a:t>
            </a:r>
            <a:endParaRPr lang="en-US" dirty="0"/>
          </a:p>
        </p:txBody>
      </p:sp>
      <p:sp>
        <p:nvSpPr>
          <p:cNvPr id="5" name="Text 3"/>
          <p:cNvSpPr/>
          <p:nvPr/>
        </p:nvSpPr>
        <p:spPr>
          <a:xfrm>
            <a:off x="881063" y="3019504"/>
            <a:ext cx="6165413" cy="1057275"/>
          </a:xfrm>
          <a:prstGeom prst="rect">
            <a:avLst/>
          </a:prstGeom>
          <a:noFill/>
        </p:spPr>
        <p:txBody>
          <a:bodyPr wrap="square" lIns="0" tIns="0" rIns="0" bIns="0" rtlCol="0" anchor="t"/>
          <a:lstStyle/>
          <a:p>
            <a:pPr marL="342900" indent="-342900" algn="just">
              <a:lnSpc>
                <a:spcPts val="2750"/>
              </a:lnSpc>
              <a:buSzPct val="100000"/>
              <a:buChar char="•"/>
            </a:pPr>
            <a:r>
              <a:rPr lang="en-US" b="1" dirty="0">
                <a:solidFill>
                  <a:srgbClr val="D7D4CC"/>
                </a:solidFill>
                <a:ea typeface="Raleway Medium" pitchFamily="34" charset="-122"/>
                <a:cs typeface="Raleway Medium" pitchFamily="34" charset="-120"/>
              </a:rPr>
              <a:t>MFT Zone:</a:t>
            </a:r>
            <a:r>
              <a:rPr lang="en-US" dirty="0">
                <a:solidFill>
                  <a:srgbClr val="D7D4CC"/>
                </a:solidFill>
                <a:ea typeface="Raleway Medium" pitchFamily="34" charset="-122"/>
                <a:cs typeface="Raleway Medium" pitchFamily="34" charset="-120"/>
              </a:rPr>
              <a:t> Khoảng 12% đầu tiên được dành riêng cho Master File Table, cho phép MFT phát triển liên tục mà không bị phân mảnh</a:t>
            </a:r>
            <a:endParaRPr lang="en-US" dirty="0"/>
          </a:p>
        </p:txBody>
      </p:sp>
      <p:sp>
        <p:nvSpPr>
          <p:cNvPr id="6" name="Text 4"/>
          <p:cNvSpPr/>
          <p:nvPr/>
        </p:nvSpPr>
        <p:spPr>
          <a:xfrm>
            <a:off x="881063" y="4153813"/>
            <a:ext cx="6165413" cy="704850"/>
          </a:xfrm>
          <a:prstGeom prst="rect">
            <a:avLst/>
          </a:prstGeom>
          <a:noFill/>
        </p:spPr>
        <p:txBody>
          <a:bodyPr wrap="square" lIns="0" tIns="0" rIns="0" bIns="0" rtlCol="0" anchor="t"/>
          <a:lstStyle/>
          <a:p>
            <a:pPr marL="342900" indent="-342900" algn="just">
              <a:lnSpc>
                <a:spcPts val="2750"/>
              </a:lnSpc>
              <a:buSzPct val="100000"/>
              <a:buChar char="•"/>
            </a:pPr>
            <a:r>
              <a:rPr lang="en-US" b="1" dirty="0">
                <a:solidFill>
                  <a:srgbClr val="D7D4CC"/>
                </a:solidFill>
                <a:ea typeface="Raleway Medium" pitchFamily="34" charset="-122"/>
                <a:cs typeface="Raleway Medium" pitchFamily="34" charset="-120"/>
              </a:rPr>
              <a:t>Data Area:</a:t>
            </a:r>
            <a:r>
              <a:rPr lang="en-US" dirty="0">
                <a:solidFill>
                  <a:srgbClr val="D7D4CC"/>
                </a:solidFill>
                <a:ea typeface="Raleway Medium" pitchFamily="34" charset="-122"/>
                <a:cs typeface="Raleway Medium" pitchFamily="34" charset="-120"/>
              </a:rPr>
              <a:t> Khoảng 88% còn lại chứa dữ liệu tập tin thông thường</a:t>
            </a:r>
            <a:endParaRPr lang="en-US" dirty="0"/>
          </a:p>
        </p:txBody>
      </p:sp>
      <p:sp>
        <p:nvSpPr>
          <p:cNvPr id="7" name="Text 5"/>
          <p:cNvSpPr/>
          <p:nvPr/>
        </p:nvSpPr>
        <p:spPr>
          <a:xfrm>
            <a:off x="7591544" y="1790184"/>
            <a:ext cx="2935843" cy="305991"/>
          </a:xfrm>
          <a:prstGeom prst="rect">
            <a:avLst/>
          </a:prstGeom>
          <a:noFill/>
        </p:spPr>
        <p:txBody>
          <a:bodyPr wrap="none" lIns="0" tIns="0" rIns="0" bIns="0" rtlCol="0" anchor="t"/>
          <a:lstStyle/>
          <a:p>
            <a:pPr marL="0" indent="0" algn="l">
              <a:lnSpc>
                <a:spcPts val="2400"/>
              </a:lnSpc>
              <a:buNone/>
            </a:pPr>
            <a:r>
              <a:rPr lang="en-US" sz="2000" b="1" dirty="0">
                <a:solidFill>
                  <a:srgbClr val="FFE14D"/>
                </a:solidFill>
                <a:latin typeface="+mj-lt"/>
                <a:ea typeface="Comfortaa Bold" pitchFamily="34" charset="-122"/>
                <a:cs typeface="Comfortaa Bold" pitchFamily="34" charset="-120"/>
              </a:rPr>
              <a:t>Master File Table (MFT)</a:t>
            </a:r>
            <a:endParaRPr lang="en-US" sz="2000" dirty="0">
              <a:latin typeface="+mj-lt"/>
            </a:endParaRPr>
          </a:p>
        </p:txBody>
      </p:sp>
      <p:sp>
        <p:nvSpPr>
          <p:cNvPr id="8" name="Text 6"/>
          <p:cNvSpPr/>
          <p:nvPr/>
        </p:nvSpPr>
        <p:spPr>
          <a:xfrm>
            <a:off x="7591544" y="2560915"/>
            <a:ext cx="6165413" cy="1762125"/>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Trái tim của NTFS, là một "cơ sở dữ liệu" chứa thông tin về mọi tập tin và thư mục. MFT được chia thành các record cố định khoảng 1KB. Mỗi tập tin hoặc thư mục chiếm ít nhất một record, chứa tất cả thông tin: kích thước, ngày tạo, quyền truy cập, và cả nội dung dữ liệu.</a:t>
            </a:r>
            <a:endParaRPr lang="en-US" dirty="0"/>
          </a:p>
        </p:txBody>
      </p:sp>
      <p:pic>
        <p:nvPicPr>
          <p:cNvPr id="10" name="Picture 9"/>
          <p:cNvPicPr>
            <a:picLocks noChangeAspect="1"/>
          </p:cNvPicPr>
          <p:nvPr/>
        </p:nvPicPr>
        <p:blipFill>
          <a:blip r:embed="rId1"/>
          <a:stretch>
            <a:fillRect/>
          </a:stretch>
        </p:blipFill>
        <p:spPr>
          <a:xfrm>
            <a:off x="4060190" y="5105400"/>
            <a:ext cx="6467475" cy="2143125"/>
          </a:xfrm>
          <a:prstGeom prst="rect">
            <a:avLst/>
          </a:prstGeom>
        </p:spPr>
      </p:pic>
      <p:sp>
        <p:nvSpPr>
          <p:cNvPr id="12" name="TextBox 11"/>
          <p:cNvSpPr txBox="1"/>
          <p:nvPr/>
        </p:nvSpPr>
        <p:spPr>
          <a:xfrm>
            <a:off x="133564" y="7580837"/>
            <a:ext cx="7315200" cy="481542"/>
          </a:xfrm>
          <a:prstGeom prst="rect">
            <a:avLst/>
          </a:prstGeom>
          <a:noFill/>
        </p:spPr>
        <p:txBody>
          <a:bodyPr wrap="square">
            <a:spAutoFit/>
          </a:bodyPr>
          <a:lstStyle/>
          <a:p>
            <a:pPr marL="0" indent="0" algn="l">
              <a:lnSpc>
                <a:spcPts val="3450"/>
              </a:lnSpc>
              <a:buNone/>
            </a:pPr>
            <a:r>
              <a:rPr lang="vi-VN" dirty="0">
                <a:solidFill>
                  <a:srgbClr val="D7D4CC"/>
                </a:solidFill>
                <a:ea typeface="Raleway Medium" pitchFamily="34" charset="-122"/>
                <a:cs typeface="Raleway Medium" pitchFamily="34" charset="-120"/>
              </a:rPr>
              <a:t>4</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1410295"/>
            <a:ext cx="11775638" cy="611981"/>
          </a:xfrm>
          <a:prstGeom prst="rect">
            <a:avLst/>
          </a:prstGeom>
          <a:noFill/>
        </p:spPr>
        <p:txBody>
          <a:bodyPr wrap="none" lIns="0" tIns="0" rIns="0" bIns="0" rtlCol="0" anchor="t"/>
          <a:lstStyle/>
          <a:p>
            <a:pPr marL="0" indent="0" algn="just">
              <a:lnSpc>
                <a:spcPts val="4800"/>
              </a:lnSpc>
              <a:buNone/>
            </a:pPr>
            <a:r>
              <a:rPr lang="en-US" sz="4000" b="1" dirty="0">
                <a:solidFill>
                  <a:srgbClr val="FFE14D"/>
                </a:solidFill>
                <a:latin typeface="+mj-lt"/>
                <a:ea typeface="Comfortaa Bold" pitchFamily="34" charset="-122"/>
                <a:cs typeface="Comfortaa Bold" pitchFamily="34" charset="-120"/>
              </a:rPr>
              <a:t>Thuộc Tính (Attributes) và Dữ Liệu trong NTFS</a:t>
            </a:r>
            <a:endParaRPr lang="en-US" sz="4000" dirty="0">
              <a:latin typeface="+mj-lt"/>
            </a:endParaRPr>
          </a:p>
        </p:txBody>
      </p:sp>
      <p:sp>
        <p:nvSpPr>
          <p:cNvPr id="3" name="Shape 1"/>
          <p:cNvSpPr/>
          <p:nvPr/>
        </p:nvSpPr>
        <p:spPr>
          <a:xfrm>
            <a:off x="881063" y="2462808"/>
            <a:ext cx="4142542" cy="1935956"/>
          </a:xfrm>
          <a:prstGeom prst="roundRect">
            <a:avLst>
              <a:gd name="adj" fmla="val 17069"/>
            </a:avLst>
          </a:prstGeom>
          <a:solidFill>
            <a:srgbClr val="46464A"/>
          </a:solidFill>
        </p:spPr>
        <p:txBody>
          <a:bodyPr/>
          <a:lstStyle/>
          <a:p>
            <a:pPr algn="just"/>
            <a:endParaRPr lang="en-US" sz="2000"/>
          </a:p>
        </p:txBody>
      </p:sp>
      <p:sp>
        <p:nvSpPr>
          <p:cNvPr id="4" name="Text 2"/>
          <p:cNvSpPr/>
          <p:nvPr/>
        </p:nvSpPr>
        <p:spPr>
          <a:xfrm>
            <a:off x="1101328" y="2683073"/>
            <a:ext cx="3521154" cy="305991"/>
          </a:xfrm>
          <a:prstGeom prst="rect">
            <a:avLst/>
          </a:prstGeom>
          <a:noFill/>
        </p:spPr>
        <p:txBody>
          <a:bodyPr wrap="none" lIns="0" tIns="0" rIns="0" bIns="0" rtlCol="0" anchor="t"/>
          <a:lstStyle/>
          <a:p>
            <a:pPr marL="0" indent="0" algn="l">
              <a:lnSpc>
                <a:spcPts val="2400"/>
              </a:lnSpc>
              <a:buNone/>
            </a:pPr>
            <a:r>
              <a:rPr lang="en-US" sz="2000" b="1" dirty="0">
                <a:solidFill>
                  <a:srgbClr val="D7D4CC"/>
                </a:solidFill>
                <a:latin typeface="+mj-lt"/>
                <a:ea typeface="Comfortaa Bold" pitchFamily="34" charset="-122"/>
                <a:cs typeface="Comfortaa Bold" pitchFamily="34" charset="-120"/>
              </a:rPr>
              <a:t>$STANDARD_INFORMATION</a:t>
            </a:r>
            <a:endParaRPr lang="en-US" sz="2000" dirty="0">
              <a:latin typeface="+mj-lt"/>
            </a:endParaRPr>
          </a:p>
        </p:txBody>
      </p:sp>
      <p:sp>
        <p:nvSpPr>
          <p:cNvPr id="5" name="Text 3"/>
          <p:cNvSpPr/>
          <p:nvPr/>
        </p:nvSpPr>
        <p:spPr>
          <a:xfrm>
            <a:off x="1101328" y="3121223"/>
            <a:ext cx="3702010" cy="1057275"/>
          </a:xfrm>
          <a:prstGeom prst="rect">
            <a:avLst/>
          </a:prstGeom>
          <a:noFill/>
        </p:spPr>
        <p:txBody>
          <a:bodyPr wrap="square" lIns="0" tIns="0" rIns="0" bIns="0" rtlCol="0" anchor="t"/>
          <a:lstStyle/>
          <a:p>
            <a:pPr marL="0" indent="0" algn="just">
              <a:lnSpc>
                <a:spcPts val="2750"/>
              </a:lnSpc>
              <a:buNone/>
            </a:pPr>
            <a:r>
              <a:rPr lang="en-US" sz="1700" dirty="0">
                <a:solidFill>
                  <a:srgbClr val="D7D4CC"/>
                </a:solidFill>
                <a:ea typeface="Raleway Medium" pitchFamily="34" charset="-122"/>
                <a:cs typeface="Raleway Medium" pitchFamily="34" charset="-120"/>
              </a:rPr>
              <a:t>Chứa thông tin cơ bản như timestamps (ngày giờ) và thuộc tính như Read-Only, Hidden, System.</a:t>
            </a:r>
            <a:endParaRPr lang="en-US" sz="1700" dirty="0"/>
          </a:p>
        </p:txBody>
      </p:sp>
      <p:sp>
        <p:nvSpPr>
          <p:cNvPr id="6" name="Shape 4"/>
          <p:cNvSpPr/>
          <p:nvPr/>
        </p:nvSpPr>
        <p:spPr>
          <a:xfrm>
            <a:off x="5243870" y="2462808"/>
            <a:ext cx="4142542" cy="1935956"/>
          </a:xfrm>
          <a:prstGeom prst="roundRect">
            <a:avLst>
              <a:gd name="adj" fmla="val 17069"/>
            </a:avLst>
          </a:prstGeom>
          <a:solidFill>
            <a:srgbClr val="46464A"/>
          </a:solidFill>
        </p:spPr>
        <p:txBody>
          <a:bodyPr/>
          <a:lstStyle/>
          <a:p>
            <a:pPr algn="just"/>
            <a:endParaRPr lang="en-US" sz="2000"/>
          </a:p>
        </p:txBody>
      </p:sp>
      <p:sp>
        <p:nvSpPr>
          <p:cNvPr id="7" name="Text 5"/>
          <p:cNvSpPr/>
          <p:nvPr/>
        </p:nvSpPr>
        <p:spPr>
          <a:xfrm>
            <a:off x="5464135" y="2683073"/>
            <a:ext cx="2447687" cy="305991"/>
          </a:xfrm>
          <a:prstGeom prst="rect">
            <a:avLst/>
          </a:prstGeom>
          <a:noFill/>
        </p:spPr>
        <p:txBody>
          <a:bodyPr wrap="none" lIns="0" tIns="0" rIns="0" bIns="0" rtlCol="0" anchor="t"/>
          <a:lstStyle/>
          <a:p>
            <a:pPr marL="0" indent="0" algn="l">
              <a:lnSpc>
                <a:spcPts val="2400"/>
              </a:lnSpc>
              <a:buNone/>
            </a:pPr>
            <a:r>
              <a:rPr lang="en-US" sz="1900" b="1" dirty="0">
                <a:solidFill>
                  <a:srgbClr val="D7D4CC"/>
                </a:solidFill>
                <a:latin typeface="+mj-lt"/>
                <a:ea typeface="Comfortaa Bold" pitchFamily="34" charset="-122"/>
                <a:cs typeface="Comfortaa Bold" pitchFamily="34" charset="-120"/>
              </a:rPr>
              <a:t>$FILE_NAME</a:t>
            </a:r>
            <a:endParaRPr lang="en-US" sz="1900" dirty="0">
              <a:latin typeface="+mj-lt"/>
            </a:endParaRPr>
          </a:p>
        </p:txBody>
      </p:sp>
      <p:sp>
        <p:nvSpPr>
          <p:cNvPr id="8" name="Text 6"/>
          <p:cNvSpPr/>
          <p:nvPr/>
        </p:nvSpPr>
        <p:spPr>
          <a:xfrm>
            <a:off x="5464135" y="3121223"/>
            <a:ext cx="3702010" cy="1057275"/>
          </a:xfrm>
          <a:prstGeom prst="rect">
            <a:avLst/>
          </a:prstGeom>
          <a:noFill/>
        </p:spPr>
        <p:txBody>
          <a:bodyPr wrap="square" lIns="0" tIns="0" rIns="0" bIns="0" rtlCol="0" anchor="t"/>
          <a:lstStyle/>
          <a:p>
            <a:pPr marL="0" indent="0" algn="l">
              <a:lnSpc>
                <a:spcPts val="2750"/>
              </a:lnSpc>
              <a:buNone/>
            </a:pPr>
            <a:r>
              <a:rPr lang="en-US" dirty="0">
                <a:solidFill>
                  <a:srgbClr val="D7D4CC"/>
                </a:solidFill>
                <a:ea typeface="Raleway Medium" pitchFamily="34" charset="-122"/>
                <a:cs typeface="Raleway Medium" pitchFamily="34" charset="-120"/>
              </a:rPr>
              <a:t>Tên của tập tin. Một tập tin có thể có nhiều tên, ví dụ tên dài và tên ngắn định dạng 8.3.</a:t>
            </a:r>
            <a:endParaRPr lang="en-US" dirty="0"/>
          </a:p>
        </p:txBody>
      </p:sp>
      <p:sp>
        <p:nvSpPr>
          <p:cNvPr id="9" name="Shape 7"/>
          <p:cNvSpPr/>
          <p:nvPr/>
        </p:nvSpPr>
        <p:spPr>
          <a:xfrm>
            <a:off x="9606677" y="2462808"/>
            <a:ext cx="4142542" cy="1935956"/>
          </a:xfrm>
          <a:prstGeom prst="roundRect">
            <a:avLst>
              <a:gd name="adj" fmla="val 17069"/>
            </a:avLst>
          </a:prstGeom>
          <a:solidFill>
            <a:srgbClr val="46464A"/>
          </a:solidFill>
        </p:spPr>
        <p:txBody>
          <a:bodyPr/>
          <a:lstStyle/>
          <a:p>
            <a:endParaRPr lang="en-US" sz="2000"/>
          </a:p>
        </p:txBody>
      </p:sp>
      <p:sp>
        <p:nvSpPr>
          <p:cNvPr id="10" name="Text 8"/>
          <p:cNvSpPr/>
          <p:nvPr/>
        </p:nvSpPr>
        <p:spPr>
          <a:xfrm>
            <a:off x="9826943" y="2683073"/>
            <a:ext cx="3157061" cy="305991"/>
          </a:xfrm>
          <a:prstGeom prst="rect">
            <a:avLst/>
          </a:prstGeom>
          <a:noFill/>
        </p:spPr>
        <p:txBody>
          <a:bodyPr wrap="none" lIns="0" tIns="0" rIns="0" bIns="0" rtlCol="0" anchor="t"/>
          <a:lstStyle/>
          <a:p>
            <a:pPr marL="0" indent="0" algn="just">
              <a:lnSpc>
                <a:spcPts val="2400"/>
              </a:lnSpc>
              <a:buNone/>
            </a:pPr>
            <a:r>
              <a:rPr lang="en-US" sz="1900" b="1" dirty="0">
                <a:solidFill>
                  <a:srgbClr val="D7D4CC"/>
                </a:solidFill>
                <a:latin typeface="+mj-lt"/>
                <a:ea typeface="Comfortaa Bold" pitchFamily="34" charset="-122"/>
                <a:cs typeface="Comfortaa Bold" pitchFamily="34" charset="-120"/>
              </a:rPr>
              <a:t>$SECURITY_DESCRIPTOR</a:t>
            </a:r>
            <a:endParaRPr lang="en-US" sz="1900" dirty="0">
              <a:latin typeface="+mj-lt"/>
            </a:endParaRPr>
          </a:p>
        </p:txBody>
      </p:sp>
      <p:sp>
        <p:nvSpPr>
          <p:cNvPr id="11" name="Text 9"/>
          <p:cNvSpPr/>
          <p:nvPr/>
        </p:nvSpPr>
        <p:spPr>
          <a:xfrm>
            <a:off x="9826943" y="3121223"/>
            <a:ext cx="3702010" cy="1057275"/>
          </a:xfrm>
          <a:prstGeom prst="rect">
            <a:avLst/>
          </a:prstGeom>
          <a:noFill/>
        </p:spPr>
        <p:txBody>
          <a:bodyPr wrap="square" lIns="0" tIns="0" rIns="0" bIns="0" rtlCol="0" anchor="t"/>
          <a:lstStyle/>
          <a:p>
            <a:pPr marL="0" indent="0" algn="just">
              <a:lnSpc>
                <a:spcPts val="2750"/>
              </a:lnSpc>
              <a:buNone/>
            </a:pPr>
            <a:r>
              <a:rPr lang="en-US" sz="1700" dirty="0">
                <a:solidFill>
                  <a:srgbClr val="D7D4CC"/>
                </a:solidFill>
                <a:ea typeface="Raleway Medium" pitchFamily="34" charset="-122"/>
                <a:cs typeface="Raleway Medium" pitchFamily="34" charset="-120"/>
              </a:rPr>
              <a:t>Chứa thông tin bảo mật (Access Control Lists - ACLs) quy định ai có quyền truy cập tập tin.</a:t>
            </a:r>
            <a:endParaRPr lang="en-US" sz="1700" dirty="0"/>
          </a:p>
        </p:txBody>
      </p:sp>
      <p:sp>
        <p:nvSpPr>
          <p:cNvPr id="12" name="Text 10"/>
          <p:cNvSpPr/>
          <p:nvPr/>
        </p:nvSpPr>
        <p:spPr>
          <a:xfrm>
            <a:off x="881063" y="4729163"/>
            <a:ext cx="6919674" cy="305991"/>
          </a:xfrm>
          <a:prstGeom prst="rect">
            <a:avLst/>
          </a:prstGeom>
          <a:noFill/>
        </p:spPr>
        <p:txBody>
          <a:bodyPr wrap="none" lIns="0" tIns="0" rIns="0" bIns="0" rtlCol="0" anchor="t"/>
          <a:lstStyle/>
          <a:p>
            <a:pPr marL="0" indent="0" algn="just">
              <a:lnSpc>
                <a:spcPts val="2400"/>
              </a:lnSpc>
              <a:buNone/>
            </a:pPr>
            <a:r>
              <a:rPr lang="en-US" sz="2000" b="1" dirty="0">
                <a:solidFill>
                  <a:srgbClr val="FFE14D"/>
                </a:solidFill>
                <a:latin typeface="+mj-lt"/>
                <a:ea typeface="Comfortaa Bold" pitchFamily="34" charset="-122"/>
                <a:cs typeface="Comfortaa Bold" pitchFamily="34" charset="-120"/>
              </a:rPr>
              <a:t>Dữ Liệu Nội Trú (Resident) và Ngoại Trú (Non-Resident)</a:t>
            </a:r>
            <a:endParaRPr lang="en-US" sz="2000" dirty="0">
              <a:latin typeface="+mj-lt"/>
            </a:endParaRPr>
          </a:p>
        </p:txBody>
      </p:sp>
      <p:sp>
        <p:nvSpPr>
          <p:cNvPr id="13" name="Text 11"/>
          <p:cNvSpPr/>
          <p:nvPr/>
        </p:nvSpPr>
        <p:spPr>
          <a:xfrm>
            <a:off x="881063" y="5563791"/>
            <a:ext cx="6165413" cy="1057275"/>
          </a:xfrm>
          <a:prstGeom prst="rect">
            <a:avLst/>
          </a:prstGeom>
          <a:noFill/>
        </p:spPr>
        <p:txBody>
          <a:bodyPr wrap="square" lIns="0" tIns="0" rIns="0" bIns="0" rtlCol="0" anchor="t"/>
          <a:lstStyle/>
          <a:p>
            <a:pPr marL="0" indent="0" algn="just">
              <a:lnSpc>
                <a:spcPts val="2750"/>
              </a:lnSpc>
              <a:buNone/>
            </a:pPr>
            <a:r>
              <a:rPr lang="en-US" b="1" dirty="0">
                <a:solidFill>
                  <a:srgbClr val="D7D4CC"/>
                </a:solidFill>
                <a:ea typeface="Raleway Medium" pitchFamily="34" charset="-122"/>
                <a:cs typeface="Raleway Medium" pitchFamily="34" charset="-120"/>
              </a:rPr>
              <a:t>Dữ Liệu Nội Trú:</a:t>
            </a:r>
            <a:r>
              <a:rPr lang="en-US" dirty="0">
                <a:solidFill>
                  <a:srgbClr val="D7D4CC"/>
                </a:solidFill>
                <a:ea typeface="Raleway Medium" pitchFamily="34" charset="-122"/>
                <a:cs typeface="Raleway Medium" pitchFamily="34" charset="-120"/>
              </a:rPr>
              <a:t> Nếu file rất nhỏ (vài trăm byte), dữ liệu được lưu trực tiếp bên trong MFT record, cho phép truy xuất cực nhanh.</a:t>
            </a:r>
            <a:endParaRPr lang="en-US" dirty="0"/>
          </a:p>
        </p:txBody>
      </p:sp>
      <p:sp>
        <p:nvSpPr>
          <p:cNvPr id="14" name="Text 12"/>
          <p:cNvSpPr/>
          <p:nvPr/>
        </p:nvSpPr>
        <p:spPr>
          <a:xfrm>
            <a:off x="7591544" y="5563791"/>
            <a:ext cx="6165413" cy="1057275"/>
          </a:xfrm>
          <a:prstGeom prst="rect">
            <a:avLst/>
          </a:prstGeom>
          <a:noFill/>
        </p:spPr>
        <p:txBody>
          <a:bodyPr wrap="square" lIns="0" tIns="0" rIns="0" bIns="0" rtlCol="0" anchor="t"/>
          <a:lstStyle/>
          <a:p>
            <a:pPr marL="0" indent="0" algn="just">
              <a:lnSpc>
                <a:spcPts val="2750"/>
              </a:lnSpc>
              <a:buNone/>
            </a:pPr>
            <a:r>
              <a:rPr lang="en-US" b="1" dirty="0">
                <a:solidFill>
                  <a:srgbClr val="D7D4CC"/>
                </a:solidFill>
                <a:ea typeface="Raleway Medium" pitchFamily="34" charset="-122"/>
                <a:cs typeface="Raleway Medium" pitchFamily="34" charset="-120"/>
              </a:rPr>
              <a:t>Dữ Liệu Ngoại Trú:</a:t>
            </a:r>
            <a:r>
              <a:rPr lang="en-US" dirty="0">
                <a:solidFill>
                  <a:srgbClr val="D7D4CC"/>
                </a:solidFill>
                <a:ea typeface="Raleway Medium" pitchFamily="34" charset="-122"/>
                <a:cs typeface="Raleway Medium" pitchFamily="34" charset="-120"/>
              </a:rPr>
              <a:t> Nếu file quá lớn, MFT record chứa các con trỏ (data runs/extents) chỉ đến các cluster trên Data Area.</a:t>
            </a:r>
            <a:endParaRPr lang="en-US" dirty="0"/>
          </a:p>
        </p:txBody>
      </p:sp>
      <p:sp>
        <p:nvSpPr>
          <p:cNvPr id="17" name="TextBox 16"/>
          <p:cNvSpPr txBox="1"/>
          <p:nvPr/>
        </p:nvSpPr>
        <p:spPr>
          <a:xfrm>
            <a:off x="123289" y="7498175"/>
            <a:ext cx="7315200" cy="481542"/>
          </a:xfrm>
          <a:prstGeom prst="rect">
            <a:avLst/>
          </a:prstGeom>
          <a:noFill/>
        </p:spPr>
        <p:txBody>
          <a:bodyPr wrap="square">
            <a:spAutoFit/>
          </a:bodyPr>
          <a:lstStyle/>
          <a:p>
            <a:pPr marL="0" indent="0" algn="l">
              <a:lnSpc>
                <a:spcPts val="3450"/>
              </a:lnSpc>
              <a:buNone/>
            </a:pPr>
            <a:r>
              <a:rPr lang="vi-VN" sz="1800" dirty="0">
                <a:solidFill>
                  <a:srgbClr val="D7D4CC"/>
                </a:solidFill>
                <a:ea typeface="Raleway Medium" pitchFamily="34" charset="-122"/>
                <a:cs typeface="Raleway Medium" pitchFamily="34" charset="-120"/>
              </a:rPr>
              <a:t>5</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1444704"/>
            <a:ext cx="10298906" cy="611981"/>
          </a:xfrm>
          <a:prstGeom prst="rect">
            <a:avLst/>
          </a:prstGeom>
          <a:noFill/>
        </p:spPr>
        <p:txBody>
          <a:bodyPr wrap="none" lIns="0" tIns="0" rIns="0" bIns="0" rtlCol="0" anchor="t"/>
          <a:lstStyle/>
          <a:p>
            <a:pPr marL="0" indent="0" algn="just">
              <a:lnSpc>
                <a:spcPts val="4800"/>
              </a:lnSpc>
              <a:buNone/>
            </a:pPr>
            <a:r>
              <a:rPr lang="en-US" sz="4000" b="1" dirty="0">
                <a:solidFill>
                  <a:srgbClr val="FFE14D"/>
                </a:solidFill>
                <a:latin typeface="+mj-lt"/>
                <a:ea typeface="Comfortaa Bold" pitchFamily="34" charset="-122"/>
                <a:cs typeface="Comfortaa Bold" pitchFamily="34" charset="-120"/>
              </a:rPr>
              <a:t>Metafile và Tính Năng Nổi Bật của NTFS</a:t>
            </a:r>
            <a:endParaRPr lang="en-US" sz="4000" dirty="0">
              <a:latin typeface="+mj-lt"/>
            </a:endParaRPr>
          </a:p>
        </p:txBody>
      </p:sp>
      <p:sp>
        <p:nvSpPr>
          <p:cNvPr id="3" name="Shape 1"/>
          <p:cNvSpPr/>
          <p:nvPr>
            <p:custDataLst>
              <p:tags r:id="rId1"/>
            </p:custDataLst>
          </p:nvPr>
        </p:nvSpPr>
        <p:spPr>
          <a:xfrm>
            <a:off x="881063" y="2497217"/>
            <a:ext cx="495657" cy="495657"/>
          </a:xfrm>
          <a:prstGeom prst="roundRect">
            <a:avLst>
              <a:gd name="adj" fmla="val 66668"/>
            </a:avLst>
          </a:prstGeom>
          <a:solidFill>
            <a:srgbClr val="46464A"/>
          </a:solidFill>
        </p:spPr>
        <p:txBody>
          <a:bodyPr/>
          <a:lstStyle/>
          <a:p>
            <a:endParaRPr lang="en-US"/>
          </a:p>
        </p:txBody>
      </p:sp>
      <p:sp>
        <p:nvSpPr>
          <p:cNvPr id="4" name="Text 2"/>
          <p:cNvSpPr/>
          <p:nvPr>
            <p:custDataLst>
              <p:tags r:id="rId2"/>
            </p:custDataLst>
          </p:nvPr>
        </p:nvSpPr>
        <p:spPr>
          <a:xfrm>
            <a:off x="1596985" y="2572941"/>
            <a:ext cx="2638544" cy="305991"/>
          </a:xfrm>
          <a:prstGeom prst="rect">
            <a:avLst/>
          </a:prstGeom>
          <a:noFill/>
        </p:spPr>
        <p:txBody>
          <a:bodyPr wrap="none" lIns="0" tIns="0" rIns="0" bIns="0" rtlCol="0" anchor="t"/>
          <a:lstStyle/>
          <a:p>
            <a:pPr marL="0" indent="0" algn="just">
              <a:lnSpc>
                <a:spcPts val="2400"/>
              </a:lnSpc>
              <a:buNone/>
            </a:pPr>
            <a:r>
              <a:rPr lang="en-US" sz="2000" b="1" dirty="0">
                <a:solidFill>
                  <a:srgbClr val="D7D4CC"/>
                </a:solidFill>
                <a:latin typeface="+mj-lt"/>
                <a:ea typeface="Comfortaa Bold" pitchFamily="34" charset="-122"/>
                <a:cs typeface="Comfortaa Bold" pitchFamily="34" charset="-120"/>
              </a:rPr>
              <a:t>Metafile Quan Trọng</a:t>
            </a:r>
            <a:endParaRPr lang="en-US" sz="2000" dirty="0">
              <a:latin typeface="+mj-lt"/>
            </a:endParaRPr>
          </a:p>
        </p:txBody>
      </p:sp>
      <p:sp>
        <p:nvSpPr>
          <p:cNvPr id="5" name="Text 3"/>
          <p:cNvSpPr/>
          <p:nvPr>
            <p:custDataLst>
              <p:tags r:id="rId3"/>
            </p:custDataLst>
          </p:nvPr>
        </p:nvSpPr>
        <p:spPr>
          <a:xfrm>
            <a:off x="1596985" y="3011091"/>
            <a:ext cx="5580578" cy="1762125"/>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NTFS sử dụng 16 record MFT đầu tiên cho quản lý: $MFT (Master File Table), $MFTMirr (bản sao lưu), $LogFile (nhật ký), $. (thư mục gốc), $Bitmap (trạng thái cluster), $Boot (Boot sector), $Volume (thông tin volume).</a:t>
            </a:r>
            <a:endParaRPr lang="en-US" dirty="0"/>
          </a:p>
        </p:txBody>
      </p:sp>
      <p:sp>
        <p:nvSpPr>
          <p:cNvPr id="6" name="Shape 4"/>
          <p:cNvSpPr/>
          <p:nvPr>
            <p:custDataLst>
              <p:tags r:id="rId4"/>
            </p:custDataLst>
          </p:nvPr>
        </p:nvSpPr>
        <p:spPr>
          <a:xfrm>
            <a:off x="7452836" y="2497217"/>
            <a:ext cx="495657" cy="495657"/>
          </a:xfrm>
          <a:prstGeom prst="roundRect">
            <a:avLst>
              <a:gd name="adj" fmla="val 66668"/>
            </a:avLst>
          </a:prstGeom>
          <a:solidFill>
            <a:srgbClr val="46464A"/>
          </a:solidFill>
        </p:spPr>
        <p:txBody>
          <a:bodyPr/>
          <a:lstStyle/>
          <a:p>
            <a:endParaRPr lang="en-US"/>
          </a:p>
        </p:txBody>
      </p:sp>
      <p:sp>
        <p:nvSpPr>
          <p:cNvPr id="7" name="Text 5"/>
          <p:cNvSpPr/>
          <p:nvPr>
            <p:custDataLst>
              <p:tags r:id="rId5"/>
            </p:custDataLst>
          </p:nvPr>
        </p:nvSpPr>
        <p:spPr>
          <a:xfrm>
            <a:off x="8168759" y="2572941"/>
            <a:ext cx="2708553" cy="305991"/>
          </a:xfrm>
          <a:prstGeom prst="rect">
            <a:avLst/>
          </a:prstGeom>
          <a:noFill/>
        </p:spPr>
        <p:txBody>
          <a:bodyPr wrap="none" lIns="0" tIns="0" rIns="0" bIns="0" rtlCol="0" anchor="t"/>
          <a:lstStyle/>
          <a:p>
            <a:pPr marL="0" indent="0" algn="just">
              <a:lnSpc>
                <a:spcPts val="2400"/>
              </a:lnSpc>
              <a:buNone/>
            </a:pPr>
            <a:r>
              <a:rPr lang="en-US" sz="2000" b="1" dirty="0">
                <a:solidFill>
                  <a:srgbClr val="D7D4CC"/>
                </a:solidFill>
                <a:latin typeface="+mj-lt"/>
                <a:ea typeface="Comfortaa Bold" pitchFamily="34" charset="-122"/>
                <a:cs typeface="Comfortaa Bold" pitchFamily="34" charset="-120"/>
              </a:rPr>
              <a:t>Journaling ($LogFile)</a:t>
            </a:r>
            <a:endParaRPr lang="en-US" sz="2000" dirty="0">
              <a:latin typeface="+mj-lt"/>
            </a:endParaRPr>
          </a:p>
        </p:txBody>
      </p:sp>
      <p:sp>
        <p:nvSpPr>
          <p:cNvPr id="8" name="Text 6"/>
          <p:cNvSpPr/>
          <p:nvPr>
            <p:custDataLst>
              <p:tags r:id="rId6"/>
            </p:custDataLst>
          </p:nvPr>
        </p:nvSpPr>
        <p:spPr>
          <a:xfrm>
            <a:off x="8168759" y="3011091"/>
            <a:ext cx="5580578" cy="1409700"/>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Trước mỗi thay đổi, NTFS ghi "ý định" vào $LogFile. Nếu máy tắt đột ngột, khi khởi động lại, NTFS đọc file này để hoàn tất hoặc hủy bỏ các thao tác dang dở, đảm bảo tính toàn vẹn.</a:t>
            </a:r>
            <a:endParaRPr lang="en-US" dirty="0"/>
          </a:p>
        </p:txBody>
      </p:sp>
      <p:sp>
        <p:nvSpPr>
          <p:cNvPr id="9" name="Shape 7"/>
          <p:cNvSpPr/>
          <p:nvPr>
            <p:custDataLst>
              <p:tags r:id="rId7"/>
            </p:custDataLst>
          </p:nvPr>
        </p:nvSpPr>
        <p:spPr>
          <a:xfrm>
            <a:off x="881063" y="5213747"/>
            <a:ext cx="495657" cy="495657"/>
          </a:xfrm>
          <a:prstGeom prst="roundRect">
            <a:avLst>
              <a:gd name="adj" fmla="val 66668"/>
            </a:avLst>
          </a:prstGeom>
          <a:solidFill>
            <a:srgbClr val="46464A"/>
          </a:solidFill>
        </p:spPr>
        <p:txBody>
          <a:bodyPr/>
          <a:lstStyle/>
          <a:p>
            <a:endParaRPr lang="en-US"/>
          </a:p>
        </p:txBody>
      </p:sp>
      <p:sp>
        <p:nvSpPr>
          <p:cNvPr id="10" name="Text 8"/>
          <p:cNvSpPr/>
          <p:nvPr>
            <p:custDataLst>
              <p:tags r:id="rId8"/>
            </p:custDataLst>
          </p:nvPr>
        </p:nvSpPr>
        <p:spPr>
          <a:xfrm>
            <a:off x="1596985" y="5289471"/>
            <a:ext cx="3194209" cy="305991"/>
          </a:xfrm>
          <a:prstGeom prst="rect">
            <a:avLst/>
          </a:prstGeom>
          <a:noFill/>
        </p:spPr>
        <p:txBody>
          <a:bodyPr wrap="none" lIns="0" tIns="0" rIns="0" bIns="0" rtlCol="0" anchor="t"/>
          <a:lstStyle/>
          <a:p>
            <a:pPr marL="0" indent="0" algn="just">
              <a:lnSpc>
                <a:spcPts val="2400"/>
              </a:lnSpc>
              <a:buNone/>
            </a:pPr>
            <a:r>
              <a:rPr lang="en-US" sz="2000" b="1" dirty="0">
                <a:solidFill>
                  <a:srgbClr val="D7D4CC"/>
                </a:solidFill>
                <a:latin typeface="+mj-lt"/>
                <a:ea typeface="Comfortaa Bold" pitchFamily="34" charset="-122"/>
                <a:cs typeface="Comfortaa Bold" pitchFamily="34" charset="-120"/>
              </a:rPr>
              <a:t>Bảo Mật, Nén và Mã Hóa</a:t>
            </a:r>
            <a:endParaRPr lang="en-US" sz="2000" dirty="0">
              <a:latin typeface="+mj-lt"/>
            </a:endParaRPr>
          </a:p>
        </p:txBody>
      </p:sp>
      <p:sp>
        <p:nvSpPr>
          <p:cNvPr id="11" name="Text 9"/>
          <p:cNvSpPr/>
          <p:nvPr>
            <p:custDataLst>
              <p:tags r:id="rId9"/>
            </p:custDataLst>
          </p:nvPr>
        </p:nvSpPr>
        <p:spPr>
          <a:xfrm>
            <a:off x="1596985" y="5727621"/>
            <a:ext cx="5580578" cy="1057275"/>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NTFS hỗ trợ Access Control Lists (ACLs) để gán quyền chi tiết, nén dữ liệu tự động, và mã hóa cấp độ hệ thống (EFS) để bảo vệ dữ liệu nhạy cảm.</a:t>
            </a:r>
            <a:endParaRPr lang="en-US" dirty="0"/>
          </a:p>
        </p:txBody>
      </p:sp>
      <p:sp>
        <p:nvSpPr>
          <p:cNvPr id="12" name="Shape 10"/>
          <p:cNvSpPr/>
          <p:nvPr>
            <p:custDataLst>
              <p:tags r:id="rId10"/>
            </p:custDataLst>
          </p:nvPr>
        </p:nvSpPr>
        <p:spPr>
          <a:xfrm>
            <a:off x="7452836" y="5213747"/>
            <a:ext cx="495657" cy="495657"/>
          </a:xfrm>
          <a:prstGeom prst="roundRect">
            <a:avLst>
              <a:gd name="adj" fmla="val 66668"/>
            </a:avLst>
          </a:prstGeom>
          <a:solidFill>
            <a:srgbClr val="46464A"/>
          </a:solidFill>
        </p:spPr>
        <p:txBody>
          <a:bodyPr/>
          <a:lstStyle/>
          <a:p>
            <a:endParaRPr lang="en-US"/>
          </a:p>
        </p:txBody>
      </p:sp>
      <p:sp>
        <p:nvSpPr>
          <p:cNvPr id="13" name="Text 11"/>
          <p:cNvSpPr/>
          <p:nvPr>
            <p:custDataLst>
              <p:tags r:id="rId11"/>
            </p:custDataLst>
          </p:nvPr>
        </p:nvSpPr>
        <p:spPr>
          <a:xfrm>
            <a:off x="8168759" y="5289471"/>
            <a:ext cx="3079194" cy="305991"/>
          </a:xfrm>
          <a:prstGeom prst="rect">
            <a:avLst/>
          </a:prstGeom>
          <a:noFill/>
        </p:spPr>
        <p:txBody>
          <a:bodyPr wrap="none" lIns="0" tIns="0" rIns="0" bIns="0" rtlCol="0" anchor="t"/>
          <a:lstStyle/>
          <a:p>
            <a:pPr marL="0" indent="0" algn="just">
              <a:lnSpc>
                <a:spcPts val="2400"/>
              </a:lnSpc>
              <a:buNone/>
            </a:pPr>
            <a:r>
              <a:rPr lang="en-US" sz="2000" b="1" dirty="0">
                <a:solidFill>
                  <a:srgbClr val="D7D4CC"/>
                </a:solidFill>
                <a:latin typeface="+mj-lt"/>
                <a:ea typeface="Comfortaa Bold" pitchFamily="34" charset="-122"/>
                <a:cs typeface="Comfortaa Bold" pitchFamily="34" charset="-120"/>
              </a:rPr>
              <a:t>Tổ Chức Thư Mục B-Tree</a:t>
            </a:r>
            <a:endParaRPr lang="en-US" sz="2000" dirty="0">
              <a:latin typeface="+mj-lt"/>
            </a:endParaRPr>
          </a:p>
        </p:txBody>
      </p:sp>
      <p:sp>
        <p:nvSpPr>
          <p:cNvPr id="14" name="Text 12"/>
          <p:cNvSpPr/>
          <p:nvPr>
            <p:custDataLst>
              <p:tags r:id="rId12"/>
            </p:custDataLst>
          </p:nvPr>
        </p:nvSpPr>
        <p:spPr>
          <a:xfrm>
            <a:off x="8168759" y="5727621"/>
            <a:ext cx="5580578" cy="1057275"/>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Khác với FAT, NTFS sử dụng cấu trúc B-Tree cân bằng để tổ chức thư mục, cho phép tìm kiếm nhanh hơn rất nhiều so với duyệt tuần tự.</a:t>
            </a:r>
            <a:endParaRPr lang="en-US" dirty="0"/>
          </a:p>
        </p:txBody>
      </p:sp>
      <p:sp>
        <p:nvSpPr>
          <p:cNvPr id="17" name="TextBox 16"/>
          <p:cNvSpPr txBox="1"/>
          <p:nvPr/>
        </p:nvSpPr>
        <p:spPr>
          <a:xfrm>
            <a:off x="137636" y="7498175"/>
            <a:ext cx="7315200" cy="481542"/>
          </a:xfrm>
          <a:prstGeom prst="rect">
            <a:avLst/>
          </a:prstGeom>
          <a:noFill/>
        </p:spPr>
        <p:txBody>
          <a:bodyPr wrap="square">
            <a:spAutoFit/>
          </a:bodyPr>
          <a:lstStyle/>
          <a:p>
            <a:pPr marL="0" indent="0" algn="l">
              <a:lnSpc>
                <a:spcPts val="3450"/>
              </a:lnSpc>
              <a:buNone/>
            </a:pPr>
            <a:r>
              <a:rPr lang="vi-VN" sz="1800" dirty="0">
                <a:solidFill>
                  <a:srgbClr val="D7D4CC"/>
                </a:solidFill>
                <a:ea typeface="Raleway Medium" pitchFamily="34" charset="-122"/>
                <a:cs typeface="Raleway Medium" pitchFamily="34" charset="-120"/>
              </a:rPr>
              <a:t>6</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custDataLst>
              <p:tags r:id="rId1"/>
            </p:custDataLst>
          </p:nvPr>
        </p:nvGraphicFramePr>
        <p:xfrm>
          <a:off x="2284095" y="1323340"/>
          <a:ext cx="10287635" cy="6491605"/>
        </p:xfrm>
        <a:graphic>
          <a:graphicData uri="http://schemas.openxmlformats.org/drawingml/2006/table">
            <a:tbl>
              <a:tblPr/>
              <a:tblGrid>
                <a:gridCol w="1565910"/>
                <a:gridCol w="1384935"/>
                <a:gridCol w="7336790"/>
              </a:tblGrid>
              <a:tr h="706755">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Tên Metafile</a:t>
                      </a:r>
                      <a:endParaRPr sz="1500" b="1"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MFT Record</a:t>
                      </a:r>
                      <a:endParaRPr sz="1500" b="1"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Chức năng</a:t>
                      </a:r>
                      <a:endParaRPr sz="1500" b="1"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862965">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$MFT</a:t>
                      </a:r>
                      <a:endParaRPr sz="1500" b="1"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0</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Chính là tập tin MFT. Record 0 mô tả chính nó (vị trí các cluster của nó).</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941070">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$MFTMirr</a:t>
                      </a:r>
                      <a:endParaRPr sz="1500" b="1"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1</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Bản sao lưu (mirror) của </a:t>
                      </a:r>
                      <a:r>
                        <a:rPr sz="1500" b="1" i="0">
                          <a:solidFill>
                            <a:schemeClr val="bg1"/>
                          </a:solidFill>
                          <a:latin typeface="Times New Roman" panose="02020603050405020304"/>
                          <a:ea typeface="Times New Roman" panose="02020603050405020304"/>
                        </a:rPr>
                        <a:t>4 MFT record đầu tiên</a:t>
                      </a:r>
                      <a:r>
                        <a:rPr sz="1500" b="0" i="0">
                          <a:solidFill>
                            <a:schemeClr val="bg1"/>
                          </a:solidFill>
                          <a:latin typeface="Times New Roman" panose="02020603050405020304"/>
                          <a:ea typeface="Times New Roman" panose="02020603050405020304"/>
                        </a:rPr>
                        <a:t> (quan trọng nhất). Nó được đặt </a:t>
                      </a:r>
                      <a:r>
                        <a:rPr sz="1500" b="1" i="0">
                          <a:solidFill>
                            <a:schemeClr val="bg1"/>
                          </a:solidFill>
                          <a:latin typeface="Times New Roman" panose="02020603050405020304"/>
                          <a:ea typeface="Times New Roman" panose="02020603050405020304"/>
                        </a:rPr>
                        <a:t>ở chính giữa volume</a:t>
                      </a:r>
                      <a:r>
                        <a:rPr sz="1500" b="0" i="0">
                          <a:solidFill>
                            <a:schemeClr val="bg1"/>
                          </a:solidFill>
                          <a:latin typeface="Times New Roman" panose="02020603050405020304"/>
                          <a:ea typeface="Times New Roman" panose="02020603050405020304"/>
                        </a:rPr>
                        <a:t> để phòng trường hợp phần đầu đĩa bị hỏng vật lý.</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706755">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$LogFile</a:t>
                      </a:r>
                      <a:endParaRPr sz="1500" b="1"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2</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Tập tin Nhật ký (Journaling).</a:t>
                      </a:r>
                      <a:r>
                        <a:rPr sz="1500" b="0" i="0">
                          <a:solidFill>
                            <a:schemeClr val="bg1"/>
                          </a:solidFill>
                          <a:latin typeface="Times New Roman" panose="02020603050405020304"/>
                          <a:ea typeface="Times New Roman" panose="02020603050405020304"/>
                        </a:rPr>
                        <a:t> Đây là cốt lõi của tính năng phục hồi (recoverability).</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459740">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$Volume</a:t>
                      </a:r>
                      <a:endParaRPr sz="1500" b="1"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3</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Chứa thông tin về volume (nhãn đĩa, phiên bản NTFS).</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706755">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a:t>
                      </a:r>
                      <a:r>
                        <a:rPr sz="1500" b="0" i="0">
                          <a:solidFill>
                            <a:schemeClr val="bg1"/>
                          </a:solidFill>
                          <a:latin typeface="Times New Roman" panose="02020603050405020304"/>
                          <a:ea typeface="Times New Roman" panose="02020603050405020304"/>
                        </a:rPr>
                        <a:t> (Root Dir)</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5</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Thư mục gốc của volume.</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941070">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$Bitmap</a:t>
                      </a:r>
                      <a:endParaRPr sz="1500" b="1"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6</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Một bản đồ bit (bitmap) theo dõi trạng thái của tất cả các cluster trên volume (1 bit cho mỗi cluster: 0 = trống, 1 = đã dùng). Giúp NTFS tìm chỗ trống cực nhanh.</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706755">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$Boot</a:t>
                      </a:r>
                      <a:endParaRPr sz="1500" b="1"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7</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Chính là Boot Sector. Lưu dưới dạng tập tin đảm bảo nó có thể được định vị và sửa chữa.</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459740">
                <a:tc>
                  <a:txBody>
                    <a:bodyPr/>
                    <a:lstStyle/>
                    <a:p>
                      <a:pPr algn="just" fontAlgn="base">
                        <a:spcBef>
                          <a:spcPct val="0"/>
                        </a:spcBef>
                        <a:spcAft>
                          <a:spcPts val="2400"/>
                        </a:spcAft>
                      </a:pPr>
                      <a:r>
                        <a:rPr sz="1500" b="1" i="0">
                          <a:solidFill>
                            <a:schemeClr val="bg1"/>
                          </a:solidFill>
                          <a:latin typeface="Times New Roman" panose="02020603050405020304"/>
                          <a:ea typeface="Times New Roman" panose="02020603050405020304"/>
                        </a:rPr>
                        <a:t>$Quota</a:t>
                      </a:r>
                      <a:endParaRPr sz="1500" b="1"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9</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lstStyle/>
                    <a:p>
                      <a:pPr algn="just" fontAlgn="base">
                        <a:spcBef>
                          <a:spcPct val="0"/>
                        </a:spcBef>
                        <a:spcAft>
                          <a:spcPts val="2400"/>
                        </a:spcAft>
                      </a:pPr>
                      <a:r>
                        <a:rPr sz="1500" b="0" i="0">
                          <a:solidFill>
                            <a:schemeClr val="bg1"/>
                          </a:solidFill>
                          <a:latin typeface="Times New Roman" panose="02020603050405020304"/>
                          <a:ea typeface="Times New Roman" panose="02020603050405020304"/>
                        </a:rPr>
                        <a:t>Quản lý thông tin hạn ngạch (quota) đĩa cho người dùng.</a:t>
                      </a:r>
                      <a:endParaRPr sz="1500" b="0" i="0">
                        <a:solidFill>
                          <a:schemeClr val="bg1"/>
                        </a:solidFill>
                        <a:latin typeface="Times New Roman" panose="02020603050405020304"/>
                        <a:ea typeface="Times New Roman" panose="02020603050405020304"/>
                      </a:endParaRPr>
                    </a:p>
                  </a:txBody>
                  <a:tcPr marL="63500" marR="63500" marT="63500" marB="6350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bl>
          </a:graphicData>
        </a:graphic>
      </p:graphicFrame>
      <p:sp>
        <p:nvSpPr>
          <p:cNvPr id="3" name="Text Box 2"/>
          <p:cNvSpPr txBox="1"/>
          <p:nvPr/>
        </p:nvSpPr>
        <p:spPr>
          <a:xfrm>
            <a:off x="3887470" y="79375"/>
            <a:ext cx="6694805" cy="742950"/>
          </a:xfrm>
          <a:prstGeom prst="rect">
            <a:avLst/>
          </a:prstGeom>
          <a:noFill/>
        </p:spPr>
        <p:txBody>
          <a:bodyPr wrap="square" rtlCol="0">
            <a:noAutofit/>
          </a:bodyPr>
          <a:lstStyle/>
          <a:p>
            <a:r>
              <a:rPr lang="en-US" altLang="en-US" sz="3000">
                <a:solidFill>
                  <a:srgbClr val="FFFF00"/>
                </a:solidFill>
                <a:latin typeface="+mj-lt"/>
                <a:cs typeface="+mj-lt"/>
              </a:rPr>
              <a:t> Các Metafile (Siêu tệp) Quan trọng</a:t>
            </a:r>
            <a:endParaRPr lang="en-US" altLang="en-US" sz="3000">
              <a:solidFill>
                <a:srgbClr val="FFFF00"/>
              </a:solidFill>
              <a:latin typeface="+mj-lt"/>
              <a:cs typeface="+mj-lt"/>
            </a:endParaRPr>
          </a:p>
          <a:p>
            <a:endParaRPr lang="en-US" altLang="en-US" sz="3000">
              <a:solidFill>
                <a:srgbClr val="FFFF00"/>
              </a:solidFill>
              <a:latin typeface="+mj-lt"/>
              <a:cs typeface="+mj-lt"/>
            </a:endParaRPr>
          </a:p>
        </p:txBody>
      </p:sp>
      <p:sp>
        <p:nvSpPr>
          <p:cNvPr id="5" name="TextBox 4"/>
          <p:cNvSpPr txBox="1"/>
          <p:nvPr/>
        </p:nvSpPr>
        <p:spPr>
          <a:xfrm>
            <a:off x="0" y="7574174"/>
            <a:ext cx="7315200" cy="481542"/>
          </a:xfrm>
          <a:prstGeom prst="rect">
            <a:avLst/>
          </a:prstGeom>
          <a:noFill/>
        </p:spPr>
        <p:txBody>
          <a:bodyPr wrap="square">
            <a:spAutoFit/>
          </a:bodyPr>
          <a:lstStyle/>
          <a:p>
            <a:pPr marL="0" indent="0" algn="l">
              <a:lnSpc>
                <a:spcPts val="3450"/>
              </a:lnSpc>
              <a:buNone/>
            </a:pPr>
            <a:r>
              <a:rPr lang="vi-VN" dirty="0">
                <a:solidFill>
                  <a:srgbClr val="D7D4CC"/>
                </a:solidFill>
                <a:ea typeface="Raleway Medium" pitchFamily="34" charset="-122"/>
                <a:cs typeface="Raleway Medium" pitchFamily="34" charset="-120"/>
              </a:rPr>
              <a:t>7</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787360"/>
            <a:ext cx="12868275" cy="1223963"/>
          </a:xfrm>
          <a:prstGeom prst="rect">
            <a:avLst/>
          </a:prstGeom>
          <a:noFill/>
        </p:spPr>
        <p:txBody>
          <a:bodyPr wrap="square" lIns="0" tIns="0" rIns="0" bIns="0" rtlCol="0" anchor="t"/>
          <a:lstStyle/>
          <a:p>
            <a:pPr marL="0" indent="0" algn="just">
              <a:lnSpc>
                <a:spcPts val="4800"/>
              </a:lnSpc>
              <a:buNone/>
            </a:pPr>
            <a:r>
              <a:rPr lang="en-US" sz="4000" b="1" dirty="0">
                <a:solidFill>
                  <a:srgbClr val="FFE14D"/>
                </a:solidFill>
                <a:latin typeface="+mj-lt"/>
                <a:ea typeface="Comfortaa Bold" pitchFamily="34" charset="-122"/>
                <a:cs typeface="Comfortaa Bold" pitchFamily="34" charset="-120"/>
              </a:rPr>
              <a:t>Hư hỏng logic trên NTFS và cách khắc phục - Overview</a:t>
            </a:r>
            <a:endParaRPr lang="en-US" sz="4000" dirty="0">
              <a:latin typeface="+mj-lt"/>
            </a:endParaRPr>
          </a:p>
        </p:txBody>
      </p:sp>
      <p:pic>
        <p:nvPicPr>
          <p:cNvPr id="3" name="Image 0" descr="preencoded.png"/>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881063" y="2451854"/>
            <a:ext cx="550664" cy="550664"/>
          </a:xfrm>
          <a:prstGeom prst="rect">
            <a:avLst/>
          </a:prstGeom>
        </p:spPr>
      </p:pic>
      <p:sp>
        <p:nvSpPr>
          <p:cNvPr id="4" name="Text 1"/>
          <p:cNvSpPr/>
          <p:nvPr>
            <p:custDataLst>
              <p:tags r:id="rId4"/>
            </p:custDataLst>
          </p:nvPr>
        </p:nvSpPr>
        <p:spPr>
          <a:xfrm>
            <a:off x="881063" y="3277791"/>
            <a:ext cx="4105870" cy="611981"/>
          </a:xfrm>
          <a:prstGeom prst="rect">
            <a:avLst/>
          </a:prstGeom>
          <a:noFill/>
        </p:spPr>
        <p:txBody>
          <a:bodyPr wrap="square" lIns="0" tIns="0" rIns="0" bIns="0" rtlCol="0" anchor="t"/>
          <a:lstStyle/>
          <a:p>
            <a:pPr marL="0" indent="0" algn="just">
              <a:lnSpc>
                <a:spcPts val="2400"/>
              </a:lnSpc>
              <a:buNone/>
            </a:pPr>
            <a:r>
              <a:rPr lang="en-US" sz="2000" b="1" dirty="0">
                <a:solidFill>
                  <a:srgbClr val="D7D4CC"/>
                </a:solidFill>
                <a:latin typeface="+mj-lt"/>
                <a:ea typeface="Comfortaa Bold" pitchFamily="34" charset="-122"/>
                <a:cs typeface="Comfortaa Bold" pitchFamily="34" charset="-120"/>
              </a:rPr>
              <a:t>Mô Tả Sai Về Phân Vùng (MBR/GPT Hỏng)</a:t>
            </a:r>
            <a:endParaRPr lang="en-US" sz="2000" dirty="0">
              <a:latin typeface="+mj-lt"/>
            </a:endParaRPr>
          </a:p>
        </p:txBody>
      </p:sp>
      <p:sp>
        <p:nvSpPr>
          <p:cNvPr id="5" name="Text 2"/>
          <p:cNvSpPr/>
          <p:nvPr>
            <p:custDataLst>
              <p:tags r:id="rId5"/>
            </p:custDataLst>
          </p:nvPr>
        </p:nvSpPr>
        <p:spPr>
          <a:xfrm>
            <a:off x="881063" y="4021931"/>
            <a:ext cx="4105870" cy="704850"/>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Bảng phân vùng bị hỏng, hệ thống không nhận diện Volume.</a:t>
            </a:r>
            <a:endParaRPr lang="en-US" dirty="0"/>
          </a:p>
        </p:txBody>
      </p:sp>
      <p:pic>
        <p:nvPicPr>
          <p:cNvPr id="6" name="Image 1" descr="preencoded.png"/>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5262205" y="2451854"/>
            <a:ext cx="550664" cy="550664"/>
          </a:xfrm>
          <a:prstGeom prst="rect">
            <a:avLst/>
          </a:prstGeom>
        </p:spPr>
      </p:pic>
      <p:sp>
        <p:nvSpPr>
          <p:cNvPr id="7" name="Text 3"/>
          <p:cNvSpPr/>
          <p:nvPr>
            <p:custDataLst>
              <p:tags r:id="rId9"/>
            </p:custDataLst>
          </p:nvPr>
        </p:nvSpPr>
        <p:spPr>
          <a:xfrm>
            <a:off x="5262205" y="3277791"/>
            <a:ext cx="4105870" cy="611981"/>
          </a:xfrm>
          <a:prstGeom prst="rect">
            <a:avLst/>
          </a:prstGeom>
          <a:noFill/>
        </p:spPr>
        <p:txBody>
          <a:bodyPr wrap="square" lIns="0" tIns="0" rIns="0" bIns="0" rtlCol="0" anchor="t"/>
          <a:lstStyle/>
          <a:p>
            <a:pPr marL="0" indent="0" algn="just">
              <a:lnSpc>
                <a:spcPts val="2400"/>
              </a:lnSpc>
              <a:buNone/>
            </a:pPr>
            <a:r>
              <a:rPr lang="en-US" sz="2000" b="1" dirty="0">
                <a:solidFill>
                  <a:srgbClr val="D7D4CC"/>
                </a:solidFill>
                <a:latin typeface="+mj-lt"/>
                <a:ea typeface="Comfortaa Bold" pitchFamily="34" charset="-122"/>
                <a:cs typeface="Comfortaa Bold" pitchFamily="34" charset="-120"/>
              </a:rPr>
              <a:t>Tham Số Sai Của Volume (Boot Sector)</a:t>
            </a:r>
            <a:endParaRPr lang="en-US" sz="2000" dirty="0">
              <a:latin typeface="+mj-lt"/>
            </a:endParaRPr>
          </a:p>
        </p:txBody>
      </p:sp>
      <p:sp>
        <p:nvSpPr>
          <p:cNvPr id="8" name="Text 4"/>
          <p:cNvSpPr/>
          <p:nvPr>
            <p:custDataLst>
              <p:tags r:id="rId10"/>
            </p:custDataLst>
          </p:nvPr>
        </p:nvSpPr>
        <p:spPr>
          <a:xfrm>
            <a:off x="5262205" y="4021931"/>
            <a:ext cx="4105870" cy="704850"/>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VBR bị lỗi, Windows báo RAW hoặc không truy cập được.</a:t>
            </a:r>
            <a:endParaRPr lang="en-US" dirty="0"/>
          </a:p>
        </p:txBody>
      </p:sp>
      <p:pic>
        <p:nvPicPr>
          <p:cNvPr id="9" name="Image 2" descr="preencoded.png"/>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9643348" y="2451854"/>
            <a:ext cx="550664" cy="550664"/>
          </a:xfrm>
          <a:prstGeom prst="rect">
            <a:avLst/>
          </a:prstGeom>
        </p:spPr>
      </p:pic>
      <p:sp>
        <p:nvSpPr>
          <p:cNvPr id="10" name="Text 5"/>
          <p:cNvSpPr/>
          <p:nvPr>
            <p:custDataLst>
              <p:tags r:id="rId14"/>
            </p:custDataLst>
          </p:nvPr>
        </p:nvSpPr>
        <p:spPr>
          <a:xfrm>
            <a:off x="9643348" y="3277791"/>
            <a:ext cx="4105989" cy="611981"/>
          </a:xfrm>
          <a:prstGeom prst="rect">
            <a:avLst/>
          </a:prstGeom>
          <a:noFill/>
        </p:spPr>
        <p:txBody>
          <a:bodyPr wrap="square" lIns="0" tIns="0" rIns="0" bIns="0" rtlCol="0" anchor="t"/>
          <a:lstStyle/>
          <a:p>
            <a:pPr marL="0" indent="0" algn="just">
              <a:lnSpc>
                <a:spcPts val="2400"/>
              </a:lnSpc>
              <a:buNone/>
            </a:pPr>
            <a:r>
              <a:rPr lang="en-US" sz="2000" b="1" dirty="0">
                <a:solidFill>
                  <a:srgbClr val="D7D4CC"/>
                </a:solidFill>
                <a:latin typeface="+mj-lt"/>
                <a:ea typeface="Comfortaa Bold" pitchFamily="34" charset="-122"/>
                <a:cs typeface="Comfortaa Bold" pitchFamily="34" charset="-120"/>
              </a:rPr>
              <a:t>Bảng Thư Mục và Bảng Cluster Sai (Lỗi $MFT$)</a:t>
            </a:r>
            <a:endParaRPr lang="en-US" sz="2000" dirty="0">
              <a:latin typeface="+mj-lt"/>
            </a:endParaRPr>
          </a:p>
        </p:txBody>
      </p:sp>
      <p:sp>
        <p:nvSpPr>
          <p:cNvPr id="11" name="Text 6"/>
          <p:cNvSpPr/>
          <p:nvPr>
            <p:custDataLst>
              <p:tags r:id="rId15"/>
            </p:custDataLst>
          </p:nvPr>
        </p:nvSpPr>
        <p:spPr>
          <a:xfrm>
            <a:off x="9643348" y="4021931"/>
            <a:ext cx="4105989" cy="704850"/>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$MFT$, $MFTMirr$ hoặc $Bitmap$ bị hỏng, mất cây thư mục.</a:t>
            </a:r>
            <a:endParaRPr lang="en-US" dirty="0"/>
          </a:p>
        </p:txBody>
      </p:sp>
      <p:pic>
        <p:nvPicPr>
          <p:cNvPr id="12" name="Image 3" descr="preencoded.png"/>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881063" y="5167313"/>
            <a:ext cx="550664" cy="550664"/>
          </a:xfrm>
          <a:prstGeom prst="rect">
            <a:avLst/>
          </a:prstGeom>
        </p:spPr>
      </p:pic>
      <p:sp>
        <p:nvSpPr>
          <p:cNvPr id="13" name="Text 7"/>
          <p:cNvSpPr/>
          <p:nvPr>
            <p:custDataLst>
              <p:tags r:id="rId19"/>
            </p:custDataLst>
          </p:nvPr>
        </p:nvSpPr>
        <p:spPr>
          <a:xfrm>
            <a:off x="881063" y="5993249"/>
            <a:ext cx="2669619" cy="305991"/>
          </a:xfrm>
          <a:prstGeom prst="rect">
            <a:avLst/>
          </a:prstGeom>
          <a:noFill/>
        </p:spPr>
        <p:txBody>
          <a:bodyPr wrap="none" lIns="0" tIns="0" rIns="0" bIns="0" rtlCol="0" anchor="t"/>
          <a:lstStyle/>
          <a:p>
            <a:pPr marL="0" indent="0" algn="just">
              <a:lnSpc>
                <a:spcPts val="2400"/>
              </a:lnSpc>
              <a:buNone/>
            </a:pPr>
            <a:r>
              <a:rPr lang="en-US" sz="2000" b="1" dirty="0">
                <a:solidFill>
                  <a:srgbClr val="D7D4CC"/>
                </a:solidFill>
                <a:latin typeface="+mj-lt"/>
                <a:ea typeface="Comfortaa Bold" pitchFamily="34" charset="-122"/>
                <a:cs typeface="Comfortaa Bold" pitchFamily="34" charset="-120"/>
              </a:rPr>
              <a:t>File/Thư Mục Đã Xóa</a:t>
            </a:r>
            <a:endParaRPr lang="en-US" sz="2000" dirty="0">
              <a:latin typeface="+mj-lt"/>
            </a:endParaRPr>
          </a:p>
        </p:txBody>
      </p:sp>
      <p:sp>
        <p:nvSpPr>
          <p:cNvPr id="14" name="Text 8"/>
          <p:cNvSpPr/>
          <p:nvPr>
            <p:custDataLst>
              <p:tags r:id="rId20"/>
            </p:custDataLst>
          </p:nvPr>
        </p:nvSpPr>
        <p:spPr>
          <a:xfrm>
            <a:off x="881063" y="6431399"/>
            <a:ext cx="4105870" cy="704850"/>
          </a:xfrm>
          <a:prstGeom prst="rect">
            <a:avLst/>
          </a:prstGeom>
          <a:noFill/>
        </p:spPr>
        <p:txBody>
          <a:bodyPr wrap="square" lIns="0" tIns="0" rIns="0" bIns="0" rtlCol="0" anchor="t"/>
          <a:lstStyle/>
          <a:p>
            <a:pPr marL="0" indent="0" algn="just">
              <a:lnSpc>
                <a:spcPts val="2750"/>
              </a:lnSpc>
              <a:buNone/>
            </a:pPr>
            <a:r>
              <a:rPr lang="en-US" dirty="0">
                <a:solidFill>
                  <a:srgbClr val="D7D4CC"/>
                </a:solidFill>
                <a:ea typeface="Raleway Medium" pitchFamily="34" charset="-122"/>
                <a:cs typeface="Raleway Medium" pitchFamily="34" charset="-120"/>
              </a:rPr>
              <a:t>Phục hồi từ $MFT$ record đã bị đánh dấu unused.</a:t>
            </a:r>
            <a:endParaRPr lang="en-US" dirty="0"/>
          </a:p>
        </p:txBody>
      </p:sp>
      <p:pic>
        <p:nvPicPr>
          <p:cNvPr id="15" name="Image 4" descr="preencoded.png"/>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5262205" y="5167313"/>
            <a:ext cx="550664" cy="550664"/>
          </a:xfrm>
          <a:prstGeom prst="rect">
            <a:avLst/>
          </a:prstGeom>
        </p:spPr>
      </p:pic>
      <p:sp>
        <p:nvSpPr>
          <p:cNvPr id="17" name="Text 10"/>
          <p:cNvSpPr/>
          <p:nvPr>
            <p:custDataLst>
              <p:tags r:id="rId24"/>
            </p:custDataLst>
          </p:nvPr>
        </p:nvSpPr>
        <p:spPr>
          <a:xfrm>
            <a:off x="5262205" y="6433452"/>
            <a:ext cx="4105870" cy="704850"/>
          </a:xfrm>
          <a:prstGeom prst="rect">
            <a:avLst/>
          </a:prstGeom>
          <a:noFill/>
        </p:spPr>
        <p:txBody>
          <a:bodyPr wrap="square" lIns="0" tIns="0" rIns="0" bIns="0" rtlCol="0" anchor="t"/>
          <a:lstStyle/>
          <a:p>
            <a:pPr marL="0" indent="0" algn="just">
              <a:lnSpc>
                <a:spcPts val="2750"/>
              </a:lnSpc>
              <a:buNone/>
            </a:pPr>
            <a:endParaRPr lang="en-US" dirty="0"/>
          </a:p>
        </p:txBody>
      </p:sp>
      <p:sp>
        <p:nvSpPr>
          <p:cNvPr id="19" name="TextBox 18"/>
          <p:cNvSpPr txBox="1"/>
          <p:nvPr/>
        </p:nvSpPr>
        <p:spPr>
          <a:xfrm>
            <a:off x="202968" y="7610953"/>
            <a:ext cx="7315200" cy="481542"/>
          </a:xfrm>
          <a:prstGeom prst="rect">
            <a:avLst/>
          </a:prstGeom>
          <a:noFill/>
        </p:spPr>
        <p:txBody>
          <a:bodyPr wrap="square">
            <a:spAutoFit/>
          </a:bodyPr>
          <a:lstStyle/>
          <a:p>
            <a:pPr marL="0" indent="0" algn="l">
              <a:lnSpc>
                <a:spcPts val="3450"/>
              </a:lnSpc>
              <a:buNone/>
            </a:pPr>
            <a:r>
              <a:rPr lang="vi-VN" dirty="0">
                <a:solidFill>
                  <a:srgbClr val="D7D4CC"/>
                </a:solidFill>
                <a:ea typeface="Raleway Medium" pitchFamily="34" charset="-122"/>
                <a:cs typeface="Raleway Medium" pitchFamily="34" charset="-120"/>
              </a:rPr>
              <a:t>8</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1627584"/>
            <a:ext cx="10596920" cy="611981"/>
          </a:xfrm>
          <a:prstGeom prst="rect">
            <a:avLst/>
          </a:prstGeom>
          <a:noFill/>
        </p:spPr>
        <p:txBody>
          <a:bodyPr wrap="none" lIns="0" tIns="0" rIns="0" bIns="0" rtlCol="0" anchor="t"/>
          <a:lstStyle/>
          <a:p>
            <a:pPr marL="0" indent="0" algn="l">
              <a:lnSpc>
                <a:spcPts val="4800"/>
              </a:lnSpc>
              <a:buNone/>
            </a:pPr>
            <a:r>
              <a:rPr lang="en-US" sz="4000" b="1" dirty="0">
                <a:solidFill>
                  <a:srgbClr val="FFE14D"/>
                </a:solidFill>
                <a:latin typeface="+mj-lt"/>
                <a:ea typeface="Comfortaa Bold" pitchFamily="34" charset="-122"/>
                <a:cs typeface="Comfortaa Bold" pitchFamily="34" charset="-120"/>
              </a:rPr>
              <a:t>Mô Tả Sai Về Phân Vùng - MBR/GPT Hỏng</a:t>
            </a:r>
            <a:endParaRPr lang="en-US" sz="4000" dirty="0">
              <a:latin typeface="+mj-lt"/>
            </a:endParaRPr>
          </a:p>
        </p:txBody>
      </p:sp>
      <p:sp>
        <p:nvSpPr>
          <p:cNvPr id="3" name="Text 1"/>
          <p:cNvSpPr/>
          <p:nvPr/>
        </p:nvSpPr>
        <p:spPr>
          <a:xfrm>
            <a:off x="881063" y="2569964"/>
            <a:ext cx="12868275" cy="440531"/>
          </a:xfrm>
          <a:prstGeom prst="rect">
            <a:avLst/>
          </a:prstGeom>
          <a:noFill/>
        </p:spPr>
        <p:txBody>
          <a:bodyPr wrap="none" lIns="0" tIns="0" rIns="0" bIns="0" rtlCol="0" anchor="t"/>
          <a:lstStyle/>
          <a:p>
            <a:pPr marL="0" indent="0" algn="just">
              <a:lnSpc>
                <a:spcPts val="3450"/>
              </a:lnSpc>
              <a:buNone/>
            </a:pPr>
            <a:r>
              <a:rPr lang="en-US" dirty="0">
                <a:solidFill>
                  <a:srgbClr val="D7D4CC"/>
                </a:solidFill>
                <a:ea typeface="Raleway Medium" pitchFamily="34" charset="-122"/>
                <a:cs typeface="Raleway Medium" pitchFamily="34" charset="-120"/>
              </a:rPr>
              <a:t>Phục hồi khi Bảng Phân vùng bị hỏng, hệ thống không nhận diện Volume</a:t>
            </a:r>
            <a:endParaRPr lang="en-US" dirty="0"/>
          </a:p>
        </p:txBody>
      </p:sp>
      <p:sp>
        <p:nvSpPr>
          <p:cNvPr id="4" name="Text 2"/>
          <p:cNvSpPr/>
          <p:nvPr/>
        </p:nvSpPr>
        <p:spPr>
          <a:xfrm>
            <a:off x="881063" y="3478530"/>
            <a:ext cx="2919412" cy="305991"/>
          </a:xfrm>
          <a:prstGeom prst="rect">
            <a:avLst/>
          </a:prstGeom>
          <a:noFill/>
        </p:spPr>
        <p:txBody>
          <a:bodyPr wrap="none" lIns="0" tIns="0" rIns="0" bIns="0" rtlCol="0" anchor="t"/>
          <a:lstStyle/>
          <a:p>
            <a:pPr marL="0" indent="0" algn="l">
              <a:lnSpc>
                <a:spcPts val="2400"/>
              </a:lnSpc>
              <a:buNone/>
            </a:pPr>
            <a:r>
              <a:rPr lang="en-US" sz="2000" b="1" dirty="0">
                <a:solidFill>
                  <a:srgbClr val="FFE14D"/>
                </a:solidFill>
                <a:latin typeface="+mj-lt"/>
                <a:ea typeface="Comfortaa Bold" pitchFamily="34" charset="-122"/>
                <a:cs typeface="Comfortaa Bold" pitchFamily="34" charset="-120"/>
              </a:rPr>
              <a:t>Vị Trí và Cấu Trúc MBR:</a:t>
            </a:r>
            <a:endParaRPr lang="en-US" sz="2000" dirty="0">
              <a:latin typeface="+mj-lt"/>
            </a:endParaRPr>
          </a:p>
        </p:txBody>
      </p:sp>
      <p:sp>
        <p:nvSpPr>
          <p:cNvPr id="5" name="Text 3"/>
          <p:cNvSpPr/>
          <p:nvPr/>
        </p:nvSpPr>
        <p:spPr>
          <a:xfrm>
            <a:off x="881063" y="4004786"/>
            <a:ext cx="6165413" cy="725329"/>
          </a:xfrm>
          <a:prstGeom prst="rect">
            <a:avLst/>
          </a:prstGeom>
          <a:noFill/>
        </p:spPr>
        <p:txBody>
          <a:bodyPr wrap="square" lIns="0" tIns="0" rIns="0" bIns="0" rtlCol="0" anchor="t"/>
          <a:lstStyle/>
          <a:p>
            <a:pPr marL="342900" indent="-342900" algn="just">
              <a:lnSpc>
                <a:spcPts val="2750"/>
              </a:lnSpc>
              <a:buSzPct val="100000"/>
              <a:buChar char="•"/>
            </a:pPr>
            <a:r>
              <a:rPr lang="en-US" dirty="0">
                <a:solidFill>
                  <a:srgbClr val="D7D4CC"/>
                </a:solidFill>
                <a:ea typeface="Raleway Medium" pitchFamily="34" charset="-122"/>
                <a:cs typeface="Raleway Medium" pitchFamily="34" charset="-120"/>
              </a:rPr>
              <a:t>Bảng phân vùng nằm ở offset </a:t>
            </a:r>
            <a:r>
              <a:rPr lang="en-US" i="1" dirty="0">
                <a:solidFill>
                  <a:srgbClr val="D7D4CC"/>
                </a:solidFill>
                <a:ea typeface="Raleway Medium" pitchFamily="34" charset="-122"/>
                <a:cs typeface="Raleway Medium" pitchFamily="34" charset="-120"/>
              </a:rPr>
              <a:t>1BE</a:t>
            </a:r>
            <a:r>
              <a:rPr lang="en-US" dirty="0">
                <a:solidFill>
                  <a:srgbClr val="D7D4CC"/>
                </a:solidFill>
                <a:ea typeface="Raleway Medium" pitchFamily="34" charset="-122"/>
                <a:cs typeface="Raleway Medium" pitchFamily="34" charset="-120"/>
              </a:rPr>
              <a:t> với kích thước </a:t>
            </a:r>
            <a:r>
              <a:rPr lang="en-US" i="1" dirty="0">
                <a:solidFill>
                  <a:srgbClr val="D7D4CC"/>
                </a:solidFill>
                <a:ea typeface="Raleway Medium" pitchFamily="34" charset="-122"/>
                <a:cs typeface="Raleway Medium" pitchFamily="34" charset="-120"/>
              </a:rPr>
              <a:t>40h</a:t>
            </a:r>
            <a:r>
              <a:rPr lang="en-US" dirty="0">
                <a:solidFill>
                  <a:srgbClr val="D7D4CC"/>
                </a:solidFill>
                <a:ea typeface="Raleway Medium" pitchFamily="34" charset="-122"/>
                <a:cs typeface="Raleway Medium" pitchFamily="34" charset="-120"/>
              </a:rPr>
              <a:t> bytes</a:t>
            </a:r>
            <a:endParaRPr lang="en-US" dirty="0"/>
          </a:p>
        </p:txBody>
      </p:sp>
      <p:sp>
        <p:nvSpPr>
          <p:cNvPr id="6" name="Text 4"/>
          <p:cNvSpPr/>
          <p:nvPr/>
        </p:nvSpPr>
        <p:spPr>
          <a:xfrm>
            <a:off x="881063" y="4807148"/>
            <a:ext cx="6165413" cy="372904"/>
          </a:xfrm>
          <a:prstGeom prst="rect">
            <a:avLst/>
          </a:prstGeom>
          <a:noFill/>
        </p:spPr>
        <p:txBody>
          <a:bodyPr wrap="none" lIns="0" tIns="0" rIns="0" bIns="0" rtlCol="0" anchor="t"/>
          <a:lstStyle/>
          <a:p>
            <a:pPr marL="342900" indent="-342900" algn="just">
              <a:lnSpc>
                <a:spcPts val="2750"/>
              </a:lnSpc>
              <a:buSzPct val="100000"/>
              <a:buChar char="•"/>
            </a:pPr>
            <a:r>
              <a:rPr lang="en-US" dirty="0">
                <a:solidFill>
                  <a:srgbClr val="D7D4CC"/>
                </a:solidFill>
                <a:ea typeface="Raleway Medium" pitchFamily="34" charset="-122"/>
                <a:cs typeface="Raleway Medium" pitchFamily="34" charset="-120"/>
              </a:rPr>
              <a:t>Chứa 4 mục (mỗi mục </a:t>
            </a:r>
            <a:r>
              <a:rPr lang="en-US" i="1" dirty="0">
                <a:solidFill>
                  <a:srgbClr val="D7D4CC"/>
                </a:solidFill>
                <a:ea typeface="Raleway Medium" pitchFamily="34" charset="-122"/>
                <a:cs typeface="Raleway Medium" pitchFamily="34" charset="-120"/>
              </a:rPr>
              <a:t>10h</a:t>
            </a:r>
            <a:r>
              <a:rPr lang="en-US" dirty="0">
                <a:solidFill>
                  <a:srgbClr val="D7D4CC"/>
                </a:solidFill>
                <a:ea typeface="Raleway Medium" pitchFamily="34" charset="-122"/>
                <a:cs typeface="Raleway Medium" pitchFamily="34" charset="-120"/>
              </a:rPr>
              <a:t> bytes)</a:t>
            </a:r>
            <a:endParaRPr lang="en-US" dirty="0"/>
          </a:p>
        </p:txBody>
      </p:sp>
      <p:sp>
        <p:nvSpPr>
          <p:cNvPr id="7" name="Text 5"/>
          <p:cNvSpPr/>
          <p:nvPr/>
        </p:nvSpPr>
        <p:spPr>
          <a:xfrm>
            <a:off x="881063" y="5257086"/>
            <a:ext cx="6165413" cy="372904"/>
          </a:xfrm>
          <a:prstGeom prst="rect">
            <a:avLst/>
          </a:prstGeom>
          <a:noFill/>
        </p:spPr>
        <p:txBody>
          <a:bodyPr wrap="none" lIns="0" tIns="0" rIns="0" bIns="0" rtlCol="0" anchor="t"/>
          <a:lstStyle/>
          <a:p>
            <a:pPr marL="342900" indent="-342900" algn="just">
              <a:lnSpc>
                <a:spcPts val="2750"/>
              </a:lnSpc>
              <a:buSzPct val="100000"/>
              <a:buChar char="•"/>
            </a:pPr>
            <a:r>
              <a:rPr lang="en-US" dirty="0">
                <a:solidFill>
                  <a:srgbClr val="D7D4CC"/>
                </a:solidFill>
                <a:ea typeface="Raleway Medium" pitchFamily="34" charset="-122"/>
                <a:cs typeface="Raleway Medium" pitchFamily="34" charset="-120"/>
              </a:rPr>
              <a:t>Dấu hiệu nhận diện: 2 byte cuối cùng là </a:t>
            </a:r>
            <a:r>
              <a:rPr lang="en-US" i="1" dirty="0">
                <a:solidFill>
                  <a:srgbClr val="D7D4CC"/>
                </a:solidFill>
                <a:ea typeface="Raleway Medium" pitchFamily="34" charset="-122"/>
                <a:cs typeface="Raleway Medium" pitchFamily="34" charset="-120"/>
              </a:rPr>
              <a:t>55, AA</a:t>
            </a:r>
            <a:endParaRPr lang="en-US" dirty="0"/>
          </a:p>
        </p:txBody>
      </p:sp>
      <p:sp>
        <p:nvSpPr>
          <p:cNvPr id="8" name="Text 6"/>
          <p:cNvSpPr/>
          <p:nvPr/>
        </p:nvSpPr>
        <p:spPr>
          <a:xfrm>
            <a:off x="7591544" y="3478530"/>
            <a:ext cx="2508171" cy="305991"/>
          </a:xfrm>
          <a:prstGeom prst="rect">
            <a:avLst/>
          </a:prstGeom>
          <a:noFill/>
        </p:spPr>
        <p:txBody>
          <a:bodyPr wrap="none" lIns="0" tIns="0" rIns="0" bIns="0" rtlCol="0" anchor="t"/>
          <a:lstStyle/>
          <a:p>
            <a:pPr marL="0" indent="0" algn="l">
              <a:lnSpc>
                <a:spcPts val="2400"/>
              </a:lnSpc>
              <a:buNone/>
            </a:pPr>
            <a:r>
              <a:rPr lang="en-US" sz="2000" b="1" dirty="0">
                <a:solidFill>
                  <a:srgbClr val="FFE14D"/>
                </a:solidFill>
                <a:latin typeface="+mj-lt"/>
                <a:ea typeface="Comfortaa Bold" pitchFamily="34" charset="-122"/>
                <a:cs typeface="Comfortaa Bold" pitchFamily="34" charset="-120"/>
              </a:rPr>
              <a:t>Giải Pháp Phục Hồi:</a:t>
            </a:r>
            <a:endParaRPr lang="en-US" sz="2000" dirty="0">
              <a:latin typeface="+mj-lt"/>
            </a:endParaRPr>
          </a:p>
        </p:txBody>
      </p:sp>
      <p:sp>
        <p:nvSpPr>
          <p:cNvPr id="9" name="Text 7"/>
          <p:cNvSpPr/>
          <p:nvPr/>
        </p:nvSpPr>
        <p:spPr>
          <a:xfrm>
            <a:off x="7591544" y="4004786"/>
            <a:ext cx="6165413" cy="352425"/>
          </a:xfrm>
          <a:prstGeom prst="rect">
            <a:avLst/>
          </a:prstGeom>
          <a:noFill/>
        </p:spPr>
        <p:txBody>
          <a:bodyPr wrap="none" lIns="0" tIns="0" rIns="0" bIns="0" rtlCol="0" anchor="t"/>
          <a:lstStyle/>
          <a:p>
            <a:pPr marL="342900" indent="-342900" algn="l">
              <a:lnSpc>
                <a:spcPts val="2750"/>
              </a:lnSpc>
              <a:buSzPct val="100000"/>
              <a:buFont typeface="+mj-lt"/>
              <a:buAutoNum type="arabicPeriod"/>
            </a:pPr>
            <a:r>
              <a:rPr lang="en-US" b="1" dirty="0">
                <a:solidFill>
                  <a:srgbClr val="D7D4CC"/>
                </a:solidFill>
                <a:ea typeface="Raleway Medium" pitchFamily="34" charset="-122"/>
                <a:cs typeface="Raleway Medium" pitchFamily="34" charset="-120"/>
              </a:rPr>
              <a:t>Tìm kiếm bản sao:</a:t>
            </a:r>
            <a:endParaRPr lang="en-US" dirty="0"/>
          </a:p>
        </p:txBody>
      </p:sp>
      <p:sp>
        <p:nvSpPr>
          <p:cNvPr id="10" name="Text 8"/>
          <p:cNvSpPr/>
          <p:nvPr/>
        </p:nvSpPr>
        <p:spPr>
          <a:xfrm>
            <a:off x="7591544" y="4434245"/>
            <a:ext cx="6165413" cy="352425"/>
          </a:xfrm>
          <a:prstGeom prst="rect">
            <a:avLst/>
          </a:prstGeom>
          <a:noFill/>
        </p:spPr>
        <p:txBody>
          <a:bodyPr wrap="none" lIns="0" tIns="0" rIns="0" bIns="0" rtlCol="0" anchor="t"/>
          <a:lstStyle/>
          <a:p>
            <a:pPr marL="685800" lvl="1" indent="-342900" algn="just">
              <a:lnSpc>
                <a:spcPts val="2750"/>
              </a:lnSpc>
              <a:buSzPct val="100000"/>
              <a:buChar char="•"/>
            </a:pPr>
            <a:r>
              <a:rPr lang="en-US" dirty="0">
                <a:solidFill>
                  <a:srgbClr val="D7D4CC"/>
                </a:solidFill>
                <a:ea typeface="Raleway Medium" pitchFamily="34" charset="-122"/>
                <a:cs typeface="Raleway Medium" pitchFamily="34" charset="-120"/>
              </a:rPr>
              <a:t>Bản sao MBR thường ở sector đầu/cuối đĩa</a:t>
            </a:r>
            <a:endParaRPr lang="en-US" dirty="0"/>
          </a:p>
        </p:txBody>
      </p:sp>
      <p:sp>
        <p:nvSpPr>
          <p:cNvPr id="11" name="Text 9"/>
          <p:cNvSpPr/>
          <p:nvPr/>
        </p:nvSpPr>
        <p:spPr>
          <a:xfrm>
            <a:off x="7591544" y="4863703"/>
            <a:ext cx="6165413" cy="372904"/>
          </a:xfrm>
          <a:prstGeom prst="rect">
            <a:avLst/>
          </a:prstGeom>
          <a:noFill/>
        </p:spPr>
        <p:txBody>
          <a:bodyPr wrap="none" lIns="0" tIns="0" rIns="0" bIns="0" rtlCol="0" anchor="t"/>
          <a:lstStyle/>
          <a:p>
            <a:pPr marL="685800" lvl="1" indent="-342900" algn="just">
              <a:lnSpc>
                <a:spcPts val="2750"/>
              </a:lnSpc>
              <a:buSzPct val="100000"/>
              <a:buChar char="•"/>
            </a:pPr>
            <a:r>
              <a:rPr lang="en-US" dirty="0">
                <a:solidFill>
                  <a:srgbClr val="D7D4CC"/>
                </a:solidFill>
                <a:ea typeface="Raleway Medium" pitchFamily="34" charset="-122"/>
                <a:cs typeface="Raleway Medium" pitchFamily="34" charset="-120"/>
              </a:rPr>
              <a:t>Xác thực qua dấu hiệu </a:t>
            </a:r>
            <a:r>
              <a:rPr lang="en-US" i="1" dirty="0">
                <a:solidFill>
                  <a:srgbClr val="D7D4CC"/>
                </a:solidFill>
                <a:ea typeface="Raleway Medium" pitchFamily="34" charset="-122"/>
                <a:cs typeface="Raleway Medium" pitchFamily="34" charset="-120"/>
              </a:rPr>
              <a:t>55, AA</a:t>
            </a:r>
            <a:r>
              <a:rPr lang="en-US" dirty="0">
                <a:solidFill>
                  <a:srgbClr val="D7D4CC"/>
                </a:solidFill>
                <a:ea typeface="Raleway Medium" pitchFamily="34" charset="-122"/>
                <a:cs typeface="Raleway Medium" pitchFamily="34" charset="-120"/>
              </a:rPr>
              <a:t> và cờ hoạt động </a:t>
            </a:r>
            <a:r>
              <a:rPr lang="en-US" i="1" dirty="0">
                <a:solidFill>
                  <a:srgbClr val="D7D4CC"/>
                </a:solidFill>
                <a:ea typeface="Raleway Medium" pitchFamily="34" charset="-122"/>
                <a:cs typeface="Raleway Medium" pitchFamily="34" charset="-120"/>
              </a:rPr>
              <a:t>00/80h</a:t>
            </a:r>
            <a:endParaRPr lang="en-US" dirty="0"/>
          </a:p>
        </p:txBody>
      </p:sp>
      <p:sp>
        <p:nvSpPr>
          <p:cNvPr id="12" name="Text 10"/>
          <p:cNvSpPr/>
          <p:nvPr/>
        </p:nvSpPr>
        <p:spPr>
          <a:xfrm>
            <a:off x="7591544" y="5313640"/>
            <a:ext cx="6165413" cy="352425"/>
          </a:xfrm>
          <a:prstGeom prst="rect">
            <a:avLst/>
          </a:prstGeom>
          <a:noFill/>
        </p:spPr>
        <p:txBody>
          <a:bodyPr wrap="none" lIns="0" tIns="0" rIns="0" bIns="0" rtlCol="0" anchor="t"/>
          <a:lstStyle/>
          <a:p>
            <a:pPr marL="342900" indent="-342900" algn="l">
              <a:lnSpc>
                <a:spcPts val="2750"/>
              </a:lnSpc>
              <a:buSzPct val="100000"/>
              <a:buFont typeface="+mj-lt"/>
              <a:buAutoNum type="arabicPeriod" startAt="2"/>
            </a:pPr>
            <a:r>
              <a:rPr lang="en-US" b="1" dirty="0">
                <a:solidFill>
                  <a:srgbClr val="D7D4CC"/>
                </a:solidFill>
                <a:ea typeface="Raleway Medium" pitchFamily="34" charset="-122"/>
                <a:cs typeface="Raleway Medium" pitchFamily="34" charset="-120"/>
              </a:rPr>
              <a:t>Xây dựng lại bảng phân vùng:</a:t>
            </a:r>
            <a:endParaRPr lang="en-US" dirty="0"/>
          </a:p>
        </p:txBody>
      </p:sp>
      <p:sp>
        <p:nvSpPr>
          <p:cNvPr id="13" name="Text 11"/>
          <p:cNvSpPr/>
          <p:nvPr/>
        </p:nvSpPr>
        <p:spPr>
          <a:xfrm>
            <a:off x="7591544" y="5743099"/>
            <a:ext cx="6165413" cy="352425"/>
          </a:xfrm>
          <a:prstGeom prst="rect">
            <a:avLst/>
          </a:prstGeom>
          <a:noFill/>
        </p:spPr>
        <p:txBody>
          <a:bodyPr wrap="none" lIns="0" tIns="0" rIns="0" bIns="0" rtlCol="0" anchor="t"/>
          <a:lstStyle/>
          <a:p>
            <a:pPr marL="685800" lvl="1" indent="-342900" algn="just">
              <a:lnSpc>
                <a:spcPts val="2750"/>
              </a:lnSpc>
              <a:buSzPct val="100000"/>
              <a:buChar char="•"/>
            </a:pPr>
            <a:r>
              <a:rPr lang="en-US" dirty="0">
                <a:solidFill>
                  <a:srgbClr val="D7D4CC"/>
                </a:solidFill>
                <a:ea typeface="Raleway Medium" pitchFamily="34" charset="-122"/>
                <a:cs typeface="Raleway Medium" pitchFamily="34" charset="-120"/>
              </a:rPr>
              <a:t>Kiểm tra vị trí Volume Boot Record (VBR)</a:t>
            </a:r>
            <a:endParaRPr lang="en-US" dirty="0"/>
          </a:p>
        </p:txBody>
      </p:sp>
      <p:sp>
        <p:nvSpPr>
          <p:cNvPr id="14" name="Text 12"/>
          <p:cNvSpPr/>
          <p:nvPr/>
        </p:nvSpPr>
        <p:spPr>
          <a:xfrm>
            <a:off x="7591544" y="6172557"/>
            <a:ext cx="6165413" cy="352425"/>
          </a:xfrm>
          <a:prstGeom prst="rect">
            <a:avLst/>
          </a:prstGeom>
          <a:noFill/>
        </p:spPr>
        <p:txBody>
          <a:bodyPr wrap="none" lIns="0" tIns="0" rIns="0" bIns="0" rtlCol="0" anchor="t"/>
          <a:lstStyle/>
          <a:p>
            <a:pPr marL="685800" lvl="1" indent="-342900" algn="just">
              <a:lnSpc>
                <a:spcPts val="2750"/>
              </a:lnSpc>
              <a:buSzPct val="100000"/>
              <a:buChar char="•"/>
            </a:pPr>
            <a:r>
              <a:rPr lang="en-US" dirty="0">
                <a:solidFill>
                  <a:srgbClr val="D7D4CC"/>
                </a:solidFill>
                <a:ea typeface="Raleway Medium" pitchFamily="34" charset="-122"/>
                <a:cs typeface="Raleway Medium" pitchFamily="34" charset="-120"/>
              </a:rPr>
              <a:t>Xây dựng lại bảng phân vùng từ thông tin VBR</a:t>
            </a:r>
            <a:endParaRPr lang="en-US" dirty="0"/>
          </a:p>
        </p:txBody>
      </p:sp>
      <p:sp>
        <p:nvSpPr>
          <p:cNvPr id="17" name="TextBox 16"/>
          <p:cNvSpPr txBox="1"/>
          <p:nvPr/>
        </p:nvSpPr>
        <p:spPr>
          <a:xfrm>
            <a:off x="142875" y="7593274"/>
            <a:ext cx="7315200" cy="481542"/>
          </a:xfrm>
          <a:prstGeom prst="rect">
            <a:avLst/>
          </a:prstGeom>
          <a:noFill/>
        </p:spPr>
        <p:txBody>
          <a:bodyPr wrap="square">
            <a:spAutoFit/>
          </a:bodyPr>
          <a:lstStyle/>
          <a:p>
            <a:pPr marL="0" indent="0" algn="l">
              <a:lnSpc>
                <a:spcPts val="3450"/>
              </a:lnSpc>
              <a:buNone/>
            </a:pPr>
            <a:r>
              <a:rPr lang="vi-VN" dirty="0">
                <a:solidFill>
                  <a:srgbClr val="D7D4CC"/>
                </a:solidFill>
                <a:ea typeface="Raleway Medium" pitchFamily="34" charset="-122"/>
                <a:cs typeface="Raleway Medium" pitchFamily="34" charset="-120"/>
              </a:rPr>
              <a:t>9</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1456849"/>
            <a:ext cx="9950887" cy="611981"/>
          </a:xfrm>
          <a:prstGeom prst="rect">
            <a:avLst/>
          </a:prstGeom>
          <a:noFill/>
        </p:spPr>
        <p:txBody>
          <a:bodyPr wrap="none" lIns="0" tIns="0" rIns="0" bIns="0" rtlCol="0" anchor="t"/>
          <a:lstStyle/>
          <a:p>
            <a:pPr marL="0" indent="0" algn="l">
              <a:lnSpc>
                <a:spcPts val="4800"/>
              </a:lnSpc>
              <a:buNone/>
            </a:pPr>
            <a:r>
              <a:rPr lang="en-US" sz="4000" b="1" dirty="0">
                <a:solidFill>
                  <a:srgbClr val="FFE14D"/>
                </a:solidFill>
                <a:latin typeface="+mj-lt"/>
                <a:ea typeface="Comfortaa Bold" pitchFamily="34" charset="-122"/>
                <a:cs typeface="Comfortaa Bold" pitchFamily="34" charset="-120"/>
              </a:rPr>
              <a:t>Tham Số Sai Của Volume - Boot Sector</a:t>
            </a:r>
            <a:endParaRPr lang="en-US" sz="4000" dirty="0">
              <a:latin typeface="+mj-lt"/>
            </a:endParaRPr>
          </a:p>
        </p:txBody>
      </p:sp>
      <p:sp>
        <p:nvSpPr>
          <p:cNvPr id="3" name="Text 1"/>
          <p:cNvSpPr/>
          <p:nvPr/>
        </p:nvSpPr>
        <p:spPr>
          <a:xfrm>
            <a:off x="881063" y="2399228"/>
            <a:ext cx="12868275" cy="352425"/>
          </a:xfrm>
          <a:prstGeom prst="rect">
            <a:avLst/>
          </a:prstGeom>
          <a:noFill/>
        </p:spPr>
        <p:txBody>
          <a:bodyPr wrap="none" lIns="0" tIns="0" rIns="0" bIns="0" rtlCol="0" anchor="t"/>
          <a:lstStyle/>
          <a:p>
            <a:pPr marL="0" indent="0" algn="l">
              <a:lnSpc>
                <a:spcPts val="2750"/>
              </a:lnSpc>
              <a:buNone/>
            </a:pPr>
            <a:r>
              <a:rPr lang="en-US" dirty="0">
                <a:solidFill>
                  <a:srgbClr val="D7D4CC"/>
                </a:solidFill>
                <a:ea typeface="Raleway Medium" pitchFamily="34" charset="-122"/>
                <a:cs typeface="Raleway Medium" pitchFamily="34" charset="-120"/>
              </a:rPr>
              <a:t>Phục hồi VBR (Volume Boot Record) khi bị lỗi thông tin cấu trúc</a:t>
            </a:r>
            <a:endParaRPr lang="en-US" dirty="0"/>
          </a:p>
        </p:txBody>
      </p:sp>
      <p:sp>
        <p:nvSpPr>
          <p:cNvPr id="4" name="Text 2"/>
          <p:cNvSpPr/>
          <p:nvPr/>
        </p:nvSpPr>
        <p:spPr>
          <a:xfrm>
            <a:off x="881063" y="3219688"/>
            <a:ext cx="2752368" cy="305991"/>
          </a:xfrm>
          <a:prstGeom prst="rect">
            <a:avLst/>
          </a:prstGeom>
          <a:noFill/>
        </p:spPr>
        <p:txBody>
          <a:bodyPr wrap="none" lIns="0" tIns="0" rIns="0" bIns="0" rtlCol="0" anchor="t"/>
          <a:lstStyle/>
          <a:p>
            <a:pPr marL="0" indent="0" algn="l">
              <a:lnSpc>
                <a:spcPts val="2400"/>
              </a:lnSpc>
              <a:buNone/>
            </a:pPr>
            <a:r>
              <a:rPr lang="en-US" sz="2000" b="1" dirty="0">
                <a:solidFill>
                  <a:srgbClr val="FFE14D"/>
                </a:solidFill>
                <a:latin typeface="+mj-lt"/>
                <a:ea typeface="Comfortaa Bold" pitchFamily="34" charset="-122"/>
                <a:cs typeface="Comfortaa Bold" pitchFamily="34" charset="-120"/>
              </a:rPr>
              <a:t>Tầm Quan Trọng VBR:</a:t>
            </a:r>
            <a:endParaRPr lang="en-US" sz="2000" dirty="0">
              <a:latin typeface="+mj-lt"/>
            </a:endParaRPr>
          </a:p>
        </p:txBody>
      </p:sp>
      <p:sp>
        <p:nvSpPr>
          <p:cNvPr id="5" name="Text 3"/>
          <p:cNvSpPr/>
          <p:nvPr/>
        </p:nvSpPr>
        <p:spPr>
          <a:xfrm>
            <a:off x="881063" y="3745944"/>
            <a:ext cx="6165413" cy="372904"/>
          </a:xfrm>
          <a:prstGeom prst="rect">
            <a:avLst/>
          </a:prstGeom>
          <a:noFill/>
        </p:spPr>
        <p:txBody>
          <a:bodyPr wrap="none" lIns="0" tIns="0" rIns="0" bIns="0" rtlCol="0" anchor="t"/>
          <a:lstStyle/>
          <a:p>
            <a:pPr marL="342900" indent="-342900" algn="l">
              <a:lnSpc>
                <a:spcPts val="2750"/>
              </a:lnSpc>
              <a:buSzPct val="100000"/>
              <a:buChar char="•"/>
            </a:pPr>
            <a:r>
              <a:rPr lang="en-US" dirty="0">
                <a:solidFill>
                  <a:srgbClr val="D7D4CC"/>
                </a:solidFill>
                <a:ea typeface="Raleway Medium" pitchFamily="34" charset="-122"/>
                <a:cs typeface="Raleway Medium" pitchFamily="34" charset="-120"/>
              </a:rPr>
              <a:t>Chứa thông tin về vị trí/kích thước </a:t>
            </a:r>
            <a:r>
              <a:rPr lang="en-US"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 và </a:t>
            </a:r>
            <a:r>
              <a:rPr lang="en-US" i="1" dirty="0">
                <a:solidFill>
                  <a:srgbClr val="D7D4CC"/>
                </a:solidFill>
                <a:ea typeface="Raleway Medium" pitchFamily="34" charset="-122"/>
                <a:cs typeface="Raleway Medium" pitchFamily="34" charset="-120"/>
              </a:rPr>
              <a:t>MFTMirr</a:t>
            </a:r>
            <a:endParaRPr lang="en-US" dirty="0"/>
          </a:p>
        </p:txBody>
      </p:sp>
      <p:sp>
        <p:nvSpPr>
          <p:cNvPr id="6" name="Text 4"/>
          <p:cNvSpPr/>
          <p:nvPr/>
        </p:nvSpPr>
        <p:spPr>
          <a:xfrm>
            <a:off x="881063" y="4195882"/>
            <a:ext cx="6165413" cy="704850"/>
          </a:xfrm>
          <a:prstGeom prst="rect">
            <a:avLst/>
          </a:prstGeom>
          <a:noFill/>
        </p:spPr>
        <p:txBody>
          <a:bodyPr wrap="square" lIns="0" tIns="0" rIns="0" bIns="0" rtlCol="0" anchor="t"/>
          <a:lstStyle/>
          <a:p>
            <a:pPr marL="342900" indent="-342900" algn="l">
              <a:lnSpc>
                <a:spcPts val="2750"/>
              </a:lnSpc>
              <a:buSzPct val="100000"/>
              <a:buChar char="•"/>
            </a:pPr>
            <a:r>
              <a:rPr lang="en-US" dirty="0">
                <a:solidFill>
                  <a:srgbClr val="D7D4CC"/>
                </a:solidFill>
                <a:ea typeface="Raleway Medium" pitchFamily="34" charset="-122"/>
                <a:cs typeface="Raleway Medium" pitchFamily="34" charset="-120"/>
              </a:rPr>
              <a:t>Lỗi 1 tham số → Volume báo RAW hoặc không truy cập được</a:t>
            </a:r>
            <a:endParaRPr lang="en-US" dirty="0"/>
          </a:p>
        </p:txBody>
      </p:sp>
      <p:sp>
        <p:nvSpPr>
          <p:cNvPr id="7" name="Text 5"/>
          <p:cNvSpPr/>
          <p:nvPr/>
        </p:nvSpPr>
        <p:spPr>
          <a:xfrm>
            <a:off x="881063" y="4977765"/>
            <a:ext cx="6165413" cy="352425"/>
          </a:xfrm>
          <a:prstGeom prst="rect">
            <a:avLst/>
          </a:prstGeom>
          <a:noFill/>
        </p:spPr>
        <p:txBody>
          <a:bodyPr wrap="none" lIns="0" tIns="0" rIns="0" bIns="0" rtlCol="0" anchor="t"/>
          <a:lstStyle/>
          <a:p>
            <a:pPr marL="342900" indent="-342900" algn="l">
              <a:lnSpc>
                <a:spcPts val="2750"/>
              </a:lnSpc>
              <a:buSzPct val="100000"/>
              <a:buChar char="•"/>
            </a:pPr>
            <a:r>
              <a:rPr lang="en-US" dirty="0">
                <a:solidFill>
                  <a:srgbClr val="D7D4CC"/>
                </a:solidFill>
                <a:ea typeface="Raleway Medium" pitchFamily="34" charset="-122"/>
                <a:cs typeface="Raleway Medium" pitchFamily="34" charset="-120"/>
              </a:rPr>
              <a:t>VBR có bản sao ở cuối Volume</a:t>
            </a:r>
            <a:endParaRPr lang="en-US" dirty="0"/>
          </a:p>
        </p:txBody>
      </p:sp>
      <p:sp>
        <p:nvSpPr>
          <p:cNvPr id="8" name="Text 6"/>
          <p:cNvSpPr/>
          <p:nvPr/>
        </p:nvSpPr>
        <p:spPr>
          <a:xfrm>
            <a:off x="7591544" y="3219688"/>
            <a:ext cx="2508171" cy="305991"/>
          </a:xfrm>
          <a:prstGeom prst="rect">
            <a:avLst/>
          </a:prstGeom>
          <a:noFill/>
        </p:spPr>
        <p:txBody>
          <a:bodyPr wrap="none" lIns="0" tIns="0" rIns="0" bIns="0" rtlCol="0" anchor="t"/>
          <a:lstStyle/>
          <a:p>
            <a:pPr marL="0" indent="0" algn="l">
              <a:lnSpc>
                <a:spcPts val="2400"/>
              </a:lnSpc>
              <a:buNone/>
            </a:pPr>
            <a:r>
              <a:rPr lang="en-US" sz="2000" b="1" dirty="0">
                <a:solidFill>
                  <a:srgbClr val="FFE14D"/>
                </a:solidFill>
                <a:latin typeface="+mj-lt"/>
                <a:ea typeface="Comfortaa Bold" pitchFamily="34" charset="-122"/>
                <a:cs typeface="Comfortaa Bold" pitchFamily="34" charset="-120"/>
              </a:rPr>
              <a:t>Giải Pháp Phục Hồi:</a:t>
            </a:r>
            <a:endParaRPr lang="en-US" sz="2000" dirty="0">
              <a:latin typeface="+mj-lt"/>
            </a:endParaRPr>
          </a:p>
        </p:txBody>
      </p:sp>
      <p:sp>
        <p:nvSpPr>
          <p:cNvPr id="9" name="Text 7"/>
          <p:cNvSpPr/>
          <p:nvPr/>
        </p:nvSpPr>
        <p:spPr>
          <a:xfrm>
            <a:off x="7591544" y="3745944"/>
            <a:ext cx="6165413" cy="352425"/>
          </a:xfrm>
          <a:prstGeom prst="rect">
            <a:avLst/>
          </a:prstGeom>
          <a:noFill/>
        </p:spPr>
        <p:txBody>
          <a:bodyPr wrap="none" lIns="0" tIns="0" rIns="0" bIns="0" rtlCol="0" anchor="t"/>
          <a:lstStyle/>
          <a:p>
            <a:pPr marL="342900" indent="-342900" algn="l">
              <a:lnSpc>
                <a:spcPts val="2750"/>
              </a:lnSpc>
              <a:buSzPct val="100000"/>
              <a:buFont typeface="+mj-lt"/>
              <a:buAutoNum type="arabicPeriod"/>
            </a:pPr>
            <a:r>
              <a:rPr lang="en-US" b="1" dirty="0">
                <a:solidFill>
                  <a:srgbClr val="D7D4CC"/>
                </a:solidFill>
                <a:ea typeface="Raleway Medium" pitchFamily="34" charset="-122"/>
                <a:cs typeface="Raleway Medium" pitchFamily="34" charset="-120"/>
              </a:rPr>
              <a:t>Tìm kiếm bản sao VBR:</a:t>
            </a:r>
            <a:endParaRPr lang="en-US" dirty="0"/>
          </a:p>
        </p:txBody>
      </p:sp>
      <p:sp>
        <p:nvSpPr>
          <p:cNvPr id="10" name="Text 8"/>
          <p:cNvSpPr/>
          <p:nvPr/>
        </p:nvSpPr>
        <p:spPr>
          <a:xfrm>
            <a:off x="7591544" y="4175403"/>
            <a:ext cx="6165413" cy="352425"/>
          </a:xfrm>
          <a:prstGeom prst="rect">
            <a:avLst/>
          </a:prstGeom>
          <a:noFill/>
        </p:spPr>
        <p:txBody>
          <a:bodyPr wrap="none" lIns="0" tIns="0" rIns="0" bIns="0" rtlCol="0" anchor="t"/>
          <a:lstStyle/>
          <a:p>
            <a:pPr marL="685800" lvl="1" indent="-342900" algn="l">
              <a:lnSpc>
                <a:spcPts val="2750"/>
              </a:lnSpc>
              <a:buSzPct val="100000"/>
              <a:buChar char="•"/>
            </a:pPr>
            <a:r>
              <a:rPr lang="en-US" dirty="0">
                <a:solidFill>
                  <a:srgbClr val="D7D4CC"/>
                </a:solidFill>
                <a:ea typeface="Raleway Medium" pitchFamily="34" charset="-122"/>
                <a:cs typeface="Raleway Medium" pitchFamily="34" charset="-120"/>
              </a:rPr>
              <a:t>Kiểm tra sector cuối cùng của Volume</a:t>
            </a:r>
            <a:endParaRPr lang="en-US" dirty="0"/>
          </a:p>
        </p:txBody>
      </p:sp>
      <p:sp>
        <p:nvSpPr>
          <p:cNvPr id="11" name="Text 9"/>
          <p:cNvSpPr/>
          <p:nvPr/>
        </p:nvSpPr>
        <p:spPr>
          <a:xfrm>
            <a:off x="7591544" y="4604861"/>
            <a:ext cx="6165413" cy="352425"/>
          </a:xfrm>
          <a:prstGeom prst="rect">
            <a:avLst/>
          </a:prstGeom>
          <a:noFill/>
        </p:spPr>
        <p:txBody>
          <a:bodyPr wrap="none" lIns="0" tIns="0" rIns="0" bIns="0" rtlCol="0" anchor="t"/>
          <a:lstStyle/>
          <a:p>
            <a:pPr marL="685800" lvl="1" indent="-342900" algn="l">
              <a:lnSpc>
                <a:spcPts val="2750"/>
              </a:lnSpc>
              <a:buSzPct val="100000"/>
              <a:buChar char="•"/>
            </a:pPr>
            <a:r>
              <a:rPr lang="en-US" dirty="0">
                <a:solidFill>
                  <a:srgbClr val="D7D4CC"/>
                </a:solidFill>
                <a:ea typeface="Raleway Medium" pitchFamily="34" charset="-122"/>
                <a:cs typeface="Raleway Medium" pitchFamily="34" charset="-120"/>
              </a:rPr>
              <a:t>Xác minh độ chính xác của bản sao</a:t>
            </a:r>
            <a:endParaRPr lang="en-US" dirty="0"/>
          </a:p>
        </p:txBody>
      </p:sp>
      <p:sp>
        <p:nvSpPr>
          <p:cNvPr id="12" name="Text 10"/>
          <p:cNvSpPr/>
          <p:nvPr/>
        </p:nvSpPr>
        <p:spPr>
          <a:xfrm>
            <a:off x="7591544" y="5034320"/>
            <a:ext cx="6165413" cy="352425"/>
          </a:xfrm>
          <a:prstGeom prst="rect">
            <a:avLst/>
          </a:prstGeom>
          <a:noFill/>
        </p:spPr>
        <p:txBody>
          <a:bodyPr wrap="none" lIns="0" tIns="0" rIns="0" bIns="0" rtlCol="0" anchor="t"/>
          <a:lstStyle/>
          <a:p>
            <a:pPr marL="342900" indent="-342900" algn="l">
              <a:lnSpc>
                <a:spcPts val="2750"/>
              </a:lnSpc>
              <a:buSzPct val="100000"/>
              <a:buFont typeface="+mj-lt"/>
              <a:buAutoNum type="arabicPeriod" startAt="2"/>
            </a:pPr>
            <a:r>
              <a:rPr lang="en-US" b="1" dirty="0">
                <a:solidFill>
                  <a:srgbClr val="D7D4CC"/>
                </a:solidFill>
                <a:ea typeface="Raleway Medium" pitchFamily="34" charset="-122"/>
                <a:cs typeface="Raleway Medium" pitchFamily="34" charset="-120"/>
              </a:rPr>
              <a:t>Xây dựng lại tham số Volume:</a:t>
            </a:r>
            <a:endParaRPr lang="en-US" dirty="0"/>
          </a:p>
        </p:txBody>
      </p:sp>
      <p:sp>
        <p:nvSpPr>
          <p:cNvPr id="13" name="Text 11"/>
          <p:cNvSpPr/>
          <p:nvPr/>
        </p:nvSpPr>
        <p:spPr>
          <a:xfrm>
            <a:off x="7591544" y="5463778"/>
            <a:ext cx="6165413" cy="352425"/>
          </a:xfrm>
          <a:prstGeom prst="rect">
            <a:avLst/>
          </a:prstGeom>
          <a:noFill/>
        </p:spPr>
        <p:txBody>
          <a:bodyPr wrap="none" lIns="0" tIns="0" rIns="0" bIns="0" rtlCol="0" anchor="t"/>
          <a:lstStyle/>
          <a:p>
            <a:pPr marL="685800" lvl="1" indent="-342900" algn="l">
              <a:lnSpc>
                <a:spcPts val="2750"/>
              </a:lnSpc>
              <a:buSzPct val="100000"/>
              <a:buChar char="•"/>
            </a:pPr>
            <a:r>
              <a:rPr lang="en-US" dirty="0">
                <a:solidFill>
                  <a:srgbClr val="D7D4CC"/>
                </a:solidFill>
                <a:ea typeface="Raleway Medium" pitchFamily="34" charset="-122"/>
                <a:cs typeface="Raleway Medium" pitchFamily="34" charset="-120"/>
              </a:rPr>
              <a:t>Tham chiếu kích thước cluster</a:t>
            </a:r>
            <a:endParaRPr lang="en-US" dirty="0"/>
          </a:p>
        </p:txBody>
      </p:sp>
      <p:sp>
        <p:nvSpPr>
          <p:cNvPr id="14" name="Text 12"/>
          <p:cNvSpPr/>
          <p:nvPr/>
        </p:nvSpPr>
        <p:spPr>
          <a:xfrm>
            <a:off x="7591544" y="5893237"/>
            <a:ext cx="6165413" cy="372904"/>
          </a:xfrm>
          <a:prstGeom prst="rect">
            <a:avLst/>
          </a:prstGeom>
          <a:noFill/>
        </p:spPr>
        <p:txBody>
          <a:bodyPr wrap="none" lIns="0" tIns="0" rIns="0" bIns="0" rtlCol="0" anchor="t"/>
          <a:lstStyle/>
          <a:p>
            <a:pPr marL="685800" lvl="1" indent="-342900" algn="l">
              <a:lnSpc>
                <a:spcPts val="2750"/>
              </a:lnSpc>
              <a:buSzPct val="100000"/>
              <a:buChar char="•"/>
            </a:pPr>
            <a:r>
              <a:rPr lang="en-US" dirty="0">
                <a:solidFill>
                  <a:srgbClr val="D7D4CC"/>
                </a:solidFill>
                <a:ea typeface="Raleway Medium" pitchFamily="34" charset="-122"/>
                <a:cs typeface="Raleway Medium" pitchFamily="34" charset="-120"/>
              </a:rPr>
              <a:t>Tìm kiếm vị trí </a:t>
            </a:r>
            <a:r>
              <a:rPr lang="en-US"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 và </a:t>
            </a:r>
            <a:r>
              <a:rPr lang="en-US" i="1" dirty="0">
                <a:solidFill>
                  <a:srgbClr val="D7D4CC"/>
                </a:solidFill>
                <a:ea typeface="Raleway Medium" pitchFamily="34" charset="-122"/>
                <a:cs typeface="Raleway Medium" pitchFamily="34" charset="-120"/>
              </a:rPr>
              <a:t>MFTMirr</a:t>
            </a:r>
            <a:r>
              <a:rPr lang="en-US" dirty="0">
                <a:solidFill>
                  <a:srgbClr val="D7D4CC"/>
                </a:solidFill>
                <a:ea typeface="Raleway Medium" pitchFamily="34" charset="-122"/>
                <a:cs typeface="Raleway Medium" pitchFamily="34" charset="-120"/>
              </a:rPr>
              <a:t> trên Volume</a:t>
            </a:r>
            <a:endParaRPr lang="en-US" dirty="0"/>
          </a:p>
        </p:txBody>
      </p:sp>
      <p:sp>
        <p:nvSpPr>
          <p:cNvPr id="15" name="Text 13"/>
          <p:cNvSpPr/>
          <p:nvPr/>
        </p:nvSpPr>
        <p:spPr>
          <a:xfrm>
            <a:off x="7591544" y="6343174"/>
            <a:ext cx="6165413" cy="352425"/>
          </a:xfrm>
          <a:prstGeom prst="rect">
            <a:avLst/>
          </a:prstGeom>
          <a:noFill/>
        </p:spPr>
        <p:txBody>
          <a:bodyPr wrap="none" lIns="0" tIns="0" rIns="0" bIns="0" rtlCol="0" anchor="t"/>
          <a:lstStyle/>
          <a:p>
            <a:pPr marL="685800" lvl="1" indent="-342900" algn="l">
              <a:lnSpc>
                <a:spcPts val="2750"/>
              </a:lnSpc>
              <a:buSzPct val="100000"/>
              <a:buChar char="•"/>
            </a:pPr>
            <a:r>
              <a:rPr lang="en-US" dirty="0">
                <a:solidFill>
                  <a:srgbClr val="D7D4CC"/>
                </a:solidFill>
                <a:ea typeface="Raleway Medium" pitchFamily="34" charset="-122"/>
                <a:cs typeface="Raleway Medium" pitchFamily="34" charset="-120"/>
              </a:rPr>
              <a:t>Rebuild bảng tham số từ thông tin NTFS</a:t>
            </a:r>
            <a:endParaRPr lang="en-US" dirty="0"/>
          </a:p>
        </p:txBody>
      </p:sp>
      <p:sp>
        <p:nvSpPr>
          <p:cNvPr id="18" name="TextBox 17"/>
          <p:cNvSpPr txBox="1"/>
          <p:nvPr/>
        </p:nvSpPr>
        <p:spPr>
          <a:xfrm>
            <a:off x="143838" y="7498175"/>
            <a:ext cx="7315200" cy="481542"/>
          </a:xfrm>
          <a:prstGeom prst="rect">
            <a:avLst/>
          </a:prstGeom>
          <a:noFill/>
        </p:spPr>
        <p:txBody>
          <a:bodyPr wrap="square">
            <a:spAutoFit/>
          </a:bodyPr>
          <a:lstStyle/>
          <a:p>
            <a:pPr marL="0" indent="0" algn="l">
              <a:lnSpc>
                <a:spcPts val="3450"/>
              </a:lnSpc>
              <a:buNone/>
            </a:pPr>
            <a:r>
              <a:rPr lang="vi-VN" sz="1800" dirty="0">
                <a:solidFill>
                  <a:srgbClr val="D7D4CC"/>
                </a:solidFill>
                <a:ea typeface="Raleway Medium" pitchFamily="34" charset="-122"/>
                <a:cs typeface="Raleway Medium" pitchFamily="34" charset="-120"/>
              </a:rPr>
              <a:t>10</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sp>
        <p:nvSpPr>
          <p:cNvPr id="2" name="Text 0"/>
          <p:cNvSpPr/>
          <p:nvPr/>
        </p:nvSpPr>
        <p:spPr>
          <a:xfrm>
            <a:off x="767834" y="553105"/>
            <a:ext cx="9924574" cy="553522"/>
          </a:xfrm>
          <a:prstGeom prst="rect">
            <a:avLst/>
          </a:prstGeom>
          <a:noFill/>
        </p:spPr>
        <p:txBody>
          <a:bodyPr wrap="none" lIns="0" tIns="0" rIns="0" bIns="0" rtlCol="0" anchor="t"/>
          <a:lstStyle/>
          <a:p>
            <a:pPr marL="0" indent="0" algn="just">
              <a:lnSpc>
                <a:spcPts val="4150"/>
              </a:lnSpc>
              <a:buNone/>
            </a:pPr>
            <a:r>
              <a:rPr lang="en-US" sz="4000" b="1" dirty="0">
                <a:solidFill>
                  <a:srgbClr val="FFE14D"/>
                </a:solidFill>
                <a:latin typeface="+mj-lt"/>
                <a:ea typeface="Comfortaa Bold" pitchFamily="34" charset="-122"/>
                <a:cs typeface="Comfortaa Bold" pitchFamily="34" charset="-120"/>
              </a:rPr>
              <a:t>Bảng Thư Mục và Bảng Cluster Sai (Lỗi </a:t>
            </a:r>
            <a:r>
              <a:rPr lang="en-US" sz="4000" b="1" i="1" dirty="0">
                <a:solidFill>
                  <a:srgbClr val="FFE14D"/>
                </a:solidFill>
                <a:latin typeface="+mj-lt"/>
                <a:ea typeface="Comfortaa Bold" pitchFamily="34" charset="-122"/>
                <a:cs typeface="Comfortaa Bold" pitchFamily="34" charset="-120"/>
              </a:rPr>
              <a:t>MFT</a:t>
            </a:r>
            <a:r>
              <a:rPr lang="en-US" sz="4000" b="1" dirty="0">
                <a:solidFill>
                  <a:srgbClr val="FFE14D"/>
                </a:solidFill>
                <a:latin typeface="+mj-lt"/>
                <a:ea typeface="Comfortaa Bold" pitchFamily="34" charset="-122"/>
                <a:cs typeface="Comfortaa Bold" pitchFamily="34" charset="-120"/>
              </a:rPr>
              <a:t>)</a:t>
            </a:r>
            <a:endParaRPr lang="en-US" sz="4000" dirty="0">
              <a:latin typeface="+mj-lt"/>
            </a:endParaRPr>
          </a:p>
        </p:txBody>
      </p:sp>
      <p:sp>
        <p:nvSpPr>
          <p:cNvPr id="3" name="Text 1"/>
          <p:cNvSpPr/>
          <p:nvPr/>
        </p:nvSpPr>
        <p:spPr>
          <a:xfrm>
            <a:off x="767834" y="1394519"/>
            <a:ext cx="13094732" cy="322302"/>
          </a:xfrm>
          <a:prstGeom prst="rect">
            <a:avLst/>
          </a:prstGeom>
          <a:noFill/>
        </p:spPr>
        <p:txBody>
          <a:bodyPr wrap="none" lIns="0" tIns="0" rIns="0" bIns="0" rtlCol="0" anchor="t"/>
          <a:lstStyle/>
          <a:p>
            <a:pPr marL="0" indent="0" algn="just">
              <a:lnSpc>
                <a:spcPts val="2400"/>
              </a:lnSpc>
              <a:buNone/>
            </a:pPr>
            <a:r>
              <a:rPr lang="en-US" dirty="0">
                <a:solidFill>
                  <a:srgbClr val="D7D4CC"/>
                </a:solidFill>
                <a:ea typeface="Raleway Medium" pitchFamily="34" charset="-122"/>
                <a:cs typeface="Raleway Medium" pitchFamily="34" charset="-120"/>
              </a:rPr>
              <a:t>Phục hồi khi cấu trúc thư mục chính của NTFS bị hỏng (lỗi Master File Table - </a:t>
            </a:r>
            <a:r>
              <a:rPr lang="en-US"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a:t>
            </a:r>
            <a:endParaRPr lang="en-US" dirty="0"/>
          </a:p>
        </p:txBody>
      </p:sp>
      <p:sp>
        <p:nvSpPr>
          <p:cNvPr id="4" name="Text 2"/>
          <p:cNvSpPr/>
          <p:nvPr/>
        </p:nvSpPr>
        <p:spPr>
          <a:xfrm>
            <a:off x="767834" y="2004715"/>
            <a:ext cx="2559606" cy="319921"/>
          </a:xfrm>
          <a:prstGeom prst="rect">
            <a:avLst/>
          </a:prstGeom>
          <a:noFill/>
        </p:spPr>
        <p:txBody>
          <a:bodyPr wrap="none" lIns="0" tIns="0" rIns="0" bIns="0" rtlCol="0" anchor="t"/>
          <a:lstStyle/>
          <a:p>
            <a:pPr marL="0" indent="0" algn="just">
              <a:lnSpc>
                <a:spcPts val="2500"/>
              </a:lnSpc>
              <a:buNone/>
            </a:pPr>
            <a:r>
              <a:rPr lang="en-US" sz="2000" b="1" dirty="0">
                <a:solidFill>
                  <a:srgbClr val="FFE14D"/>
                </a:solidFill>
                <a:latin typeface="+mj-lt"/>
                <a:ea typeface="Comfortaa Bold" pitchFamily="34" charset="-122"/>
                <a:cs typeface="Comfortaa Bold" pitchFamily="34" charset="-120"/>
              </a:rPr>
              <a:t>Cơ chế Lỗi:</a:t>
            </a:r>
            <a:endParaRPr lang="en-US" sz="2000" dirty="0">
              <a:latin typeface="+mj-lt"/>
            </a:endParaRPr>
          </a:p>
        </p:txBody>
      </p:sp>
      <p:sp>
        <p:nvSpPr>
          <p:cNvPr id="5" name="Text 3"/>
          <p:cNvSpPr/>
          <p:nvPr/>
        </p:nvSpPr>
        <p:spPr>
          <a:xfrm>
            <a:off x="767834" y="2612529"/>
            <a:ext cx="13094732" cy="629364"/>
          </a:xfrm>
          <a:prstGeom prst="rect">
            <a:avLst/>
          </a:prstGeom>
          <a:noFill/>
        </p:spPr>
        <p:txBody>
          <a:bodyPr wrap="square" lIns="0" tIns="0" rIns="0" bIns="0" rtlCol="0" anchor="t"/>
          <a:lstStyle/>
          <a:p>
            <a:pPr marL="0" indent="0" algn="just">
              <a:lnSpc>
                <a:spcPts val="2400"/>
              </a:lnSpc>
              <a:buNone/>
            </a:pPr>
            <a:r>
              <a:rPr lang="en-US" dirty="0">
                <a:solidFill>
                  <a:srgbClr val="D7D4CC"/>
                </a:solidFill>
                <a:ea typeface="Raleway Medium" pitchFamily="34" charset="-122"/>
                <a:cs typeface="Raleway Medium" pitchFamily="34" charset="-120"/>
              </a:rPr>
              <a:t>Tình huống xảy ra khi các thành phần metadata cốt lõi của NTFS (như </a:t>
            </a:r>
            <a:r>
              <a:rPr lang="en-US"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 </a:t>
            </a:r>
            <a:r>
              <a:rPr lang="en-US" i="1" dirty="0">
                <a:solidFill>
                  <a:srgbClr val="D7D4CC"/>
                </a:solidFill>
                <a:ea typeface="Raleway Medium" pitchFamily="34" charset="-122"/>
                <a:cs typeface="Raleway Medium" pitchFamily="34" charset="-120"/>
              </a:rPr>
              <a:t>MFTMirr</a:t>
            </a:r>
            <a:r>
              <a:rPr lang="en-US" dirty="0">
                <a:solidFill>
                  <a:srgbClr val="D7D4CC"/>
                </a:solidFill>
                <a:ea typeface="Raleway Medium" pitchFamily="34" charset="-122"/>
                <a:cs typeface="Raleway Medium" pitchFamily="34" charset="-120"/>
              </a:rPr>
              <a:t> hoặc </a:t>
            </a:r>
            <a:r>
              <a:rPr lang="en-US" i="1" dirty="0">
                <a:solidFill>
                  <a:srgbClr val="D7D4CC"/>
                </a:solidFill>
                <a:ea typeface="Raleway Medium" pitchFamily="34" charset="-122"/>
                <a:cs typeface="Raleway Medium" pitchFamily="34" charset="-120"/>
              </a:rPr>
              <a:t>Bitmap</a:t>
            </a:r>
            <a:r>
              <a:rPr lang="en-US" dirty="0">
                <a:solidFill>
                  <a:srgbClr val="D7D4CC"/>
                </a:solidFill>
                <a:ea typeface="Raleway Medium" pitchFamily="34" charset="-122"/>
                <a:cs typeface="Raleway Medium" pitchFamily="34" charset="-120"/>
              </a:rPr>
              <a:t>) bị hỏng logic, dẫn đến Volume không thể truy cập được hoặc bị mất cây thư mục.</a:t>
            </a:r>
            <a:endParaRPr lang="en-US" dirty="0"/>
          </a:p>
        </p:txBody>
      </p:sp>
      <p:sp>
        <p:nvSpPr>
          <p:cNvPr id="6" name="Text 4"/>
          <p:cNvSpPr/>
          <p:nvPr/>
        </p:nvSpPr>
        <p:spPr>
          <a:xfrm>
            <a:off x="767834" y="3529786"/>
            <a:ext cx="3542228" cy="319921"/>
          </a:xfrm>
          <a:prstGeom prst="rect">
            <a:avLst/>
          </a:prstGeom>
          <a:noFill/>
        </p:spPr>
        <p:txBody>
          <a:bodyPr wrap="none" lIns="0" tIns="0" rIns="0" bIns="0" rtlCol="0" anchor="t"/>
          <a:lstStyle/>
          <a:p>
            <a:pPr marL="0" indent="0" algn="just">
              <a:lnSpc>
                <a:spcPts val="2500"/>
              </a:lnSpc>
              <a:buNone/>
            </a:pPr>
            <a:r>
              <a:rPr lang="en-US" sz="2000" b="1" dirty="0">
                <a:solidFill>
                  <a:srgbClr val="FFE14D"/>
                </a:solidFill>
                <a:latin typeface="+mj-lt"/>
                <a:ea typeface="Comfortaa Bold" pitchFamily="34" charset="-122"/>
                <a:cs typeface="Comfortaa Bold" pitchFamily="34" charset="-120"/>
              </a:rPr>
              <a:t>Tình huống Format/Ghost:</a:t>
            </a:r>
            <a:endParaRPr lang="en-US" sz="2000" dirty="0">
              <a:latin typeface="+mj-lt"/>
            </a:endParaRPr>
          </a:p>
        </p:txBody>
      </p:sp>
      <p:sp>
        <p:nvSpPr>
          <p:cNvPr id="7" name="Text 5"/>
          <p:cNvSpPr/>
          <p:nvPr/>
        </p:nvSpPr>
        <p:spPr>
          <a:xfrm>
            <a:off x="767834" y="4137600"/>
            <a:ext cx="13094732" cy="614124"/>
          </a:xfrm>
          <a:prstGeom prst="rect">
            <a:avLst/>
          </a:prstGeom>
          <a:noFill/>
        </p:spPr>
        <p:txBody>
          <a:bodyPr wrap="square" lIns="0" tIns="0" rIns="0" bIns="0" rtlCol="0" anchor="t"/>
          <a:lstStyle/>
          <a:p>
            <a:pPr marL="0" indent="0" algn="just">
              <a:lnSpc>
                <a:spcPts val="2400"/>
              </a:lnSpc>
              <a:buNone/>
            </a:pPr>
            <a:r>
              <a:rPr lang="en-US" dirty="0">
                <a:solidFill>
                  <a:srgbClr val="D7D4CC"/>
                </a:solidFill>
                <a:ea typeface="Raleway Medium" pitchFamily="34" charset="-122"/>
                <a:cs typeface="Raleway Medium" pitchFamily="34" charset="-120"/>
              </a:rPr>
              <a:t>Tình huống tất cả các bảng đều sai cùng một lúc thường xảy ra khi ổ đĩa bị Format hoặc Ghost (ghi đè một phần). Lúc này, thông tin mô tả về thuộc tính và nội dung file đã bị mất, việc phục hồi không thể được đảm bảo nếu không có may mắn.</a:t>
            </a:r>
            <a:endParaRPr lang="en-US" dirty="0"/>
          </a:p>
        </p:txBody>
      </p:sp>
      <p:sp>
        <p:nvSpPr>
          <p:cNvPr id="8" name="Text 6"/>
          <p:cNvSpPr/>
          <p:nvPr/>
        </p:nvSpPr>
        <p:spPr>
          <a:xfrm>
            <a:off x="767834" y="5039618"/>
            <a:ext cx="3984427" cy="319921"/>
          </a:xfrm>
          <a:prstGeom prst="rect">
            <a:avLst/>
          </a:prstGeom>
          <a:noFill/>
        </p:spPr>
        <p:txBody>
          <a:bodyPr wrap="none" lIns="0" tIns="0" rIns="0" bIns="0" rtlCol="0" anchor="t"/>
          <a:lstStyle/>
          <a:p>
            <a:pPr marL="0" indent="0" algn="just">
              <a:lnSpc>
                <a:spcPts val="2500"/>
              </a:lnSpc>
              <a:buNone/>
            </a:pPr>
            <a:r>
              <a:rPr lang="en-US" sz="2000" b="1" dirty="0">
                <a:solidFill>
                  <a:srgbClr val="FFE14D"/>
                </a:solidFill>
                <a:latin typeface="+mj-lt"/>
                <a:ea typeface="Comfortaa Bold" pitchFamily="34" charset="-122"/>
                <a:cs typeface="Comfortaa Bold" pitchFamily="34" charset="-120"/>
              </a:rPr>
              <a:t>Giải pháp phục hồi cho NTFS:</a:t>
            </a:r>
            <a:endParaRPr lang="en-US" sz="2000" dirty="0">
              <a:latin typeface="+mj-lt"/>
            </a:endParaRPr>
          </a:p>
        </p:txBody>
      </p:sp>
      <p:sp>
        <p:nvSpPr>
          <p:cNvPr id="9" name="Text 7"/>
          <p:cNvSpPr/>
          <p:nvPr/>
        </p:nvSpPr>
        <p:spPr>
          <a:xfrm>
            <a:off x="767834" y="5647432"/>
            <a:ext cx="13094732" cy="322302"/>
          </a:xfrm>
          <a:prstGeom prst="rect">
            <a:avLst/>
          </a:prstGeom>
          <a:noFill/>
        </p:spPr>
        <p:txBody>
          <a:bodyPr wrap="none" lIns="0" tIns="0" rIns="0" bIns="0" rtlCol="0" anchor="t"/>
          <a:lstStyle/>
          <a:p>
            <a:pPr marL="342900" indent="-342900" algn="just">
              <a:lnSpc>
                <a:spcPts val="2400"/>
              </a:lnSpc>
              <a:buSzPct val="100000"/>
              <a:buFont typeface="+mj-lt"/>
              <a:buAutoNum type="arabicPeriod"/>
            </a:pPr>
            <a:r>
              <a:rPr lang="en-US" b="1" dirty="0">
                <a:solidFill>
                  <a:srgbClr val="D7D4CC"/>
                </a:solidFill>
                <a:ea typeface="Raleway Medium" pitchFamily="34" charset="-122"/>
                <a:cs typeface="Raleway Medium" pitchFamily="34" charset="-120"/>
              </a:rPr>
              <a:t>Sử dụng bản sao:</a:t>
            </a:r>
            <a:r>
              <a:rPr lang="en-US" dirty="0">
                <a:solidFill>
                  <a:srgbClr val="D7D4CC"/>
                </a:solidFill>
                <a:ea typeface="Raleway Medium" pitchFamily="34" charset="-122"/>
                <a:cs typeface="Raleway Medium" pitchFamily="34" charset="-120"/>
              </a:rPr>
              <a:t> Nếu file record </a:t>
            </a:r>
            <a:r>
              <a:rPr lang="en-US"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 bị mất trong </a:t>
            </a:r>
            <a:r>
              <a:rPr lang="en-US"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 có thể tìm file record này trong </a:t>
            </a:r>
            <a:r>
              <a:rPr lang="en-US" i="1" dirty="0">
                <a:solidFill>
                  <a:srgbClr val="D7D4CC"/>
                </a:solidFill>
                <a:ea typeface="Raleway Medium" pitchFamily="34" charset="-122"/>
                <a:cs typeface="Raleway Medium" pitchFamily="34" charset="-120"/>
              </a:rPr>
              <a:t>MFTMirr</a:t>
            </a:r>
            <a:r>
              <a:rPr lang="en-US" dirty="0">
                <a:solidFill>
                  <a:srgbClr val="D7D4CC"/>
                </a:solidFill>
                <a:ea typeface="Raleway Medium" pitchFamily="34" charset="-122"/>
                <a:cs typeface="Raleway Medium" pitchFamily="34" charset="-120"/>
              </a:rPr>
              <a:t> (bản sao </a:t>
            </a:r>
            <a:r>
              <a:rPr lang="en-US"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 đầu tiên).</a:t>
            </a:r>
            <a:endParaRPr lang="en-US" dirty="0"/>
          </a:p>
        </p:txBody>
      </p:sp>
      <p:sp>
        <p:nvSpPr>
          <p:cNvPr id="10" name="Text 8"/>
          <p:cNvSpPr/>
          <p:nvPr/>
        </p:nvSpPr>
        <p:spPr>
          <a:xfrm>
            <a:off x="767834" y="6036885"/>
            <a:ext cx="13094732" cy="322302"/>
          </a:xfrm>
          <a:prstGeom prst="rect">
            <a:avLst/>
          </a:prstGeom>
          <a:noFill/>
        </p:spPr>
        <p:txBody>
          <a:bodyPr wrap="none" lIns="0" tIns="0" rIns="0" bIns="0" rtlCol="0" anchor="t"/>
          <a:lstStyle/>
          <a:p>
            <a:pPr marL="342900" indent="-342900" algn="just">
              <a:lnSpc>
                <a:spcPts val="2400"/>
              </a:lnSpc>
              <a:buSzPct val="100000"/>
              <a:buFont typeface="+mj-lt"/>
              <a:buAutoNum type="arabicPeriod" startAt="2"/>
            </a:pPr>
            <a:r>
              <a:rPr lang="en-US" dirty="0">
                <a:solidFill>
                  <a:srgbClr val="D7D4CC"/>
                </a:solidFill>
                <a:ea typeface="Raleway Medium" pitchFamily="34" charset="-122"/>
                <a:cs typeface="Raleway Medium" pitchFamily="34" charset="-120"/>
              </a:rPr>
              <a:t>Sử dụng </a:t>
            </a:r>
            <a:r>
              <a:rPr lang="en-US" b="1" i="1" dirty="0">
                <a:solidFill>
                  <a:srgbClr val="D7D4CC"/>
                </a:solidFill>
                <a:ea typeface="Raleway Medium" pitchFamily="34" charset="-122"/>
                <a:cs typeface="Raleway Medium" pitchFamily="34" charset="-120"/>
              </a:rPr>
              <a:t>LogFile</a:t>
            </a:r>
            <a:r>
              <a:rPr lang="en-US" dirty="0">
                <a:solidFill>
                  <a:srgbClr val="D7D4CC"/>
                </a:solidFill>
                <a:ea typeface="Raleway Medium" pitchFamily="34" charset="-122"/>
                <a:cs typeface="Raleway Medium" pitchFamily="34" charset="-120"/>
              </a:rPr>
              <a:t>: Sử dụng </a:t>
            </a:r>
            <a:r>
              <a:rPr lang="en-US" i="1" dirty="0">
                <a:solidFill>
                  <a:srgbClr val="D7D4CC"/>
                </a:solidFill>
                <a:ea typeface="Raleway Medium" pitchFamily="34" charset="-122"/>
                <a:cs typeface="Raleway Medium" pitchFamily="34" charset="-120"/>
              </a:rPr>
              <a:t>LogFile</a:t>
            </a:r>
            <a:r>
              <a:rPr lang="en-US" dirty="0">
                <a:solidFill>
                  <a:srgbClr val="D7D4CC"/>
                </a:solidFill>
                <a:ea typeface="Raleway Medium" pitchFamily="34" charset="-122"/>
                <a:cs typeface="Raleway Medium" pitchFamily="34" charset="-120"/>
              </a:rPr>
              <a:t> (file nhật ký) để hoàn tác các giao dịch cuối cùng và khôi phục tính nhất quán của file system.</a:t>
            </a:r>
            <a:endParaRPr lang="en-US" dirty="0"/>
          </a:p>
        </p:txBody>
      </p:sp>
      <p:sp>
        <p:nvSpPr>
          <p:cNvPr id="11" name="Text 9"/>
          <p:cNvSpPr/>
          <p:nvPr/>
        </p:nvSpPr>
        <p:spPr>
          <a:xfrm>
            <a:off x="767834" y="6426339"/>
            <a:ext cx="13094732" cy="322302"/>
          </a:xfrm>
          <a:prstGeom prst="rect">
            <a:avLst/>
          </a:prstGeom>
          <a:noFill/>
        </p:spPr>
        <p:txBody>
          <a:bodyPr wrap="none" lIns="0" tIns="0" rIns="0" bIns="0" rtlCol="0" anchor="t"/>
          <a:lstStyle/>
          <a:p>
            <a:pPr marL="342900" indent="-342900" algn="just">
              <a:lnSpc>
                <a:spcPts val="2400"/>
              </a:lnSpc>
              <a:buSzPct val="100000"/>
              <a:buFont typeface="+mj-lt"/>
              <a:buAutoNum type="arabicPeriod" startAt="3"/>
            </a:pPr>
            <a:r>
              <a:rPr lang="en-US" dirty="0">
                <a:solidFill>
                  <a:srgbClr val="D7D4CC"/>
                </a:solidFill>
                <a:ea typeface="Raleway Medium" pitchFamily="34" charset="-122"/>
                <a:cs typeface="Raleway Medium" pitchFamily="34" charset="-120"/>
              </a:rPr>
              <a:t>Quét </a:t>
            </a:r>
            <a:r>
              <a:rPr lang="en-US" b="1"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 Khi vị trí </a:t>
            </a:r>
            <a:r>
              <a:rPr lang="en-US"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 không còn khả dụng (do VBR bị hỏng), nó phải được quét trên mỗi cluster của Volume để tìm các record </a:t>
            </a:r>
            <a:r>
              <a:rPr lang="en-US"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 hợp lệ.</a:t>
            </a:r>
            <a:endParaRPr lang="en-US" dirty="0"/>
          </a:p>
        </p:txBody>
      </p:sp>
      <p:sp>
        <p:nvSpPr>
          <p:cNvPr id="12" name="Text 10"/>
          <p:cNvSpPr/>
          <p:nvPr/>
        </p:nvSpPr>
        <p:spPr>
          <a:xfrm>
            <a:off x="767834" y="6815792"/>
            <a:ext cx="13094732" cy="307062"/>
          </a:xfrm>
          <a:prstGeom prst="rect">
            <a:avLst/>
          </a:prstGeom>
          <a:noFill/>
        </p:spPr>
        <p:txBody>
          <a:bodyPr wrap="none" lIns="0" tIns="0" rIns="0" bIns="0" rtlCol="0" anchor="t"/>
          <a:lstStyle/>
          <a:p>
            <a:pPr marL="342900" indent="-342900" algn="just">
              <a:lnSpc>
                <a:spcPts val="2400"/>
              </a:lnSpc>
              <a:buSzPct val="100000"/>
              <a:buFont typeface="+mj-lt"/>
              <a:buAutoNum type="arabicPeriod" startAt="4"/>
            </a:pPr>
            <a:r>
              <a:rPr lang="en-US" b="1" dirty="0">
                <a:solidFill>
                  <a:srgbClr val="D7D4CC"/>
                </a:solidFill>
                <a:ea typeface="Raleway Medium" pitchFamily="34" charset="-122"/>
                <a:cs typeface="Raleway Medium" pitchFamily="34" charset="-120"/>
              </a:rPr>
              <a:t>Khôi phục từ Image:</a:t>
            </a:r>
            <a:r>
              <a:rPr lang="en-US" dirty="0">
                <a:solidFill>
                  <a:srgbClr val="D7D4CC"/>
                </a:solidFill>
                <a:ea typeface="Raleway Medium" pitchFamily="34" charset="-122"/>
                <a:cs typeface="Raleway Medium" pitchFamily="34" charset="-120"/>
              </a:rPr>
              <a:t> Khi ổ đĩa ở trạng thái hỏng nặng, hãy tạo một image của Volume càng sớm càng tốt để thực hiện phục hồi trên image đó.</a:t>
            </a:r>
            <a:endParaRPr lang="en-US" dirty="0"/>
          </a:p>
        </p:txBody>
      </p:sp>
      <p:sp>
        <p:nvSpPr>
          <p:cNvPr id="15" name="TextBox 14"/>
          <p:cNvSpPr txBox="1"/>
          <p:nvPr/>
        </p:nvSpPr>
        <p:spPr>
          <a:xfrm>
            <a:off x="-5136" y="7636070"/>
            <a:ext cx="7320336" cy="481542"/>
          </a:xfrm>
          <a:prstGeom prst="rect">
            <a:avLst/>
          </a:prstGeom>
          <a:noFill/>
        </p:spPr>
        <p:txBody>
          <a:bodyPr wrap="square">
            <a:spAutoFit/>
          </a:bodyPr>
          <a:lstStyle/>
          <a:p>
            <a:pPr marL="0" indent="0" algn="l">
              <a:lnSpc>
                <a:spcPts val="3450"/>
              </a:lnSpc>
              <a:buNone/>
            </a:pPr>
            <a:r>
              <a:rPr lang="vi-VN" sz="1800" dirty="0">
                <a:solidFill>
                  <a:srgbClr val="D7D4CC"/>
                </a:solidFill>
                <a:ea typeface="Raleway Medium" pitchFamily="34" charset="-122"/>
                <a:cs typeface="Raleway Medium" pitchFamily="34" charset="-120"/>
              </a:rPr>
              <a:t>11</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1056" y="583883"/>
            <a:ext cx="5036582" cy="577096"/>
          </a:xfrm>
          <a:prstGeom prst="rect">
            <a:avLst/>
          </a:prstGeom>
          <a:noFill/>
        </p:spPr>
        <p:txBody>
          <a:bodyPr wrap="none" lIns="0" tIns="0" rIns="0" bIns="0" rtlCol="0" anchor="t"/>
          <a:lstStyle/>
          <a:p>
            <a:pPr marL="0" indent="0" algn="just">
              <a:lnSpc>
                <a:spcPts val="4500"/>
              </a:lnSpc>
              <a:buNone/>
            </a:pPr>
            <a:r>
              <a:rPr lang="en-US" sz="4000" b="1" dirty="0">
                <a:solidFill>
                  <a:srgbClr val="FFE14D"/>
                </a:solidFill>
                <a:latin typeface="+mj-lt"/>
                <a:ea typeface="Comfortaa Bold" pitchFamily="34" charset="-122"/>
                <a:cs typeface="Comfortaa Bold" pitchFamily="34" charset="-120"/>
              </a:rPr>
              <a:t>File/Thư Mục Đã Xóa</a:t>
            </a:r>
            <a:endParaRPr lang="en-US" sz="4000" dirty="0">
              <a:latin typeface="+mj-lt"/>
            </a:endParaRPr>
          </a:p>
        </p:txBody>
      </p:sp>
      <p:sp>
        <p:nvSpPr>
          <p:cNvPr id="3" name="Text 1"/>
          <p:cNvSpPr/>
          <p:nvPr/>
        </p:nvSpPr>
        <p:spPr>
          <a:xfrm>
            <a:off x="831056" y="1256030"/>
            <a:ext cx="12968288" cy="346234"/>
          </a:xfrm>
          <a:prstGeom prst="rect">
            <a:avLst/>
          </a:prstGeom>
          <a:noFill/>
        </p:spPr>
        <p:txBody>
          <a:bodyPr wrap="none" lIns="0" tIns="0" rIns="0" bIns="0" rtlCol="0" anchor="t"/>
          <a:lstStyle/>
          <a:p>
            <a:pPr marL="0" indent="0" algn="just">
              <a:lnSpc>
                <a:spcPts val="2600"/>
              </a:lnSpc>
              <a:buNone/>
            </a:pPr>
            <a:r>
              <a:rPr lang="en-US" dirty="0">
                <a:solidFill>
                  <a:srgbClr val="D7D4CC"/>
                </a:solidFill>
                <a:ea typeface="Raleway Medium" pitchFamily="34" charset="-122"/>
                <a:cs typeface="Raleway Medium" pitchFamily="34" charset="-120"/>
              </a:rPr>
              <a:t>Phục hồi File/Thư mục bị xóa bằng cách khôi phục </a:t>
            </a:r>
            <a:r>
              <a:rPr lang="en-US" i="1" dirty="0">
                <a:solidFill>
                  <a:srgbClr val="D7D4CC"/>
                </a:solidFill>
                <a:ea typeface="Raleway Medium" pitchFamily="34" charset="-122"/>
                <a:cs typeface="Raleway Medium" pitchFamily="34" charset="-120"/>
              </a:rPr>
              <a:t>MFT</a:t>
            </a:r>
            <a:r>
              <a:rPr lang="en-US" dirty="0">
                <a:solidFill>
                  <a:srgbClr val="D7D4CC"/>
                </a:solidFill>
                <a:ea typeface="Raleway Medium" pitchFamily="34" charset="-122"/>
                <a:cs typeface="Raleway Medium" pitchFamily="34" charset="-120"/>
              </a:rPr>
              <a:t> record</a:t>
            </a:r>
            <a:endParaRPr lang="en-US" dirty="0"/>
          </a:p>
        </p:txBody>
      </p:sp>
      <p:sp>
        <p:nvSpPr>
          <p:cNvPr id="4" name="Text 2"/>
          <p:cNvSpPr/>
          <p:nvPr/>
        </p:nvSpPr>
        <p:spPr>
          <a:xfrm>
            <a:off x="831056" y="1753830"/>
            <a:ext cx="3183493" cy="346234"/>
          </a:xfrm>
          <a:prstGeom prst="rect">
            <a:avLst/>
          </a:prstGeom>
          <a:noFill/>
        </p:spPr>
        <p:txBody>
          <a:bodyPr wrap="none" lIns="0" tIns="0" rIns="0" bIns="0" rtlCol="0" anchor="t"/>
          <a:lstStyle/>
          <a:p>
            <a:pPr marL="0" indent="0" algn="just">
              <a:lnSpc>
                <a:spcPts val="2700"/>
              </a:lnSpc>
              <a:buNone/>
            </a:pPr>
            <a:r>
              <a:rPr lang="en-US" sz="2400" b="1" dirty="0">
                <a:solidFill>
                  <a:srgbClr val="FFE14D"/>
                </a:solidFill>
                <a:latin typeface="+mj-lt"/>
                <a:ea typeface="Comfortaa Bold" pitchFamily="34" charset="-122"/>
                <a:cs typeface="Comfortaa Bold" pitchFamily="34" charset="-120"/>
              </a:rPr>
              <a:t>Cơ chế xóa trên NTFS:</a:t>
            </a:r>
            <a:endParaRPr lang="en-US" sz="2400" dirty="0">
              <a:latin typeface="+mj-lt"/>
            </a:endParaRPr>
          </a:p>
        </p:txBody>
      </p:sp>
      <p:sp>
        <p:nvSpPr>
          <p:cNvPr id="5" name="Text 3"/>
          <p:cNvSpPr/>
          <p:nvPr/>
        </p:nvSpPr>
        <p:spPr>
          <a:xfrm>
            <a:off x="831215" y="2099945"/>
            <a:ext cx="12968605" cy="2075815"/>
          </a:xfrm>
          <a:prstGeom prst="rect">
            <a:avLst/>
          </a:prstGeom>
          <a:noFill/>
        </p:spPr>
        <p:txBody>
          <a:bodyPr wrap="square" lIns="0" tIns="0" rIns="0" bIns="0" rtlCol="0" anchor="t"/>
          <a:lstStyle/>
          <a:p>
            <a:pPr indent="0" algn="just">
              <a:lnSpc>
                <a:spcPts val="2600"/>
              </a:lnSpc>
              <a:buNone/>
            </a:pPr>
            <a:r>
              <a:rPr lang="en-US" altLang="en-US" dirty="0">
                <a:solidFill>
                  <a:schemeClr val="bg1"/>
                </a:solidFill>
              </a:rPr>
              <a:t>1. Hệ thống không xóa MFT record của file đó.</a:t>
            </a:r>
            <a:endParaRPr lang="en-US" altLang="en-US" dirty="0">
              <a:solidFill>
                <a:schemeClr val="bg1"/>
              </a:solidFill>
            </a:endParaRPr>
          </a:p>
          <a:p>
            <a:pPr indent="0" algn="just">
              <a:lnSpc>
                <a:spcPts val="2600"/>
              </a:lnSpc>
              <a:buNone/>
            </a:pPr>
            <a:r>
              <a:rPr lang="en-US" altLang="en-US" dirty="0">
                <a:solidFill>
                  <a:schemeClr val="bg1"/>
                </a:solidFill>
              </a:rPr>
              <a:t>2. Nó chỉ đánh dấu 1 bit trong MFT record đó là "không sử dụng" (in-use = 0).</a:t>
            </a:r>
            <a:endParaRPr lang="en-US" altLang="en-US" dirty="0">
              <a:solidFill>
                <a:schemeClr val="bg1"/>
              </a:solidFill>
            </a:endParaRPr>
          </a:p>
          <a:p>
            <a:pPr indent="0" algn="just">
              <a:lnSpc>
                <a:spcPts val="2600"/>
              </a:lnSpc>
              <a:buNone/>
            </a:pPr>
            <a:r>
              <a:rPr lang="en-US" altLang="en-US" dirty="0">
                <a:solidFill>
                  <a:schemeClr val="bg1"/>
                </a:solidFill>
              </a:rPr>
              <a:t>3. Các cluster mà file đó chiếm giữ được đánh dấu là "trống" (free) trong $Bitmap.</a:t>
            </a:r>
            <a:endParaRPr lang="en-US" altLang="en-US" dirty="0">
              <a:solidFill>
                <a:schemeClr val="bg1"/>
              </a:solidFill>
            </a:endParaRPr>
          </a:p>
          <a:p>
            <a:pPr indent="0" algn="just">
              <a:lnSpc>
                <a:spcPts val="2600"/>
              </a:lnSpc>
              <a:buNone/>
            </a:pPr>
            <a:r>
              <a:rPr lang="en-US" altLang="en-US" dirty="0">
                <a:solidFill>
                  <a:schemeClr val="bg1"/>
                </a:solidFill>
              </a:rPr>
              <a:t>4. Tên file bị xóa khỏi B-Tree (chỉ mục) của thư mục cha.</a:t>
            </a:r>
            <a:endParaRPr lang="en-US" altLang="en-US" dirty="0">
              <a:solidFill>
                <a:schemeClr val="bg1"/>
              </a:solidFill>
            </a:endParaRPr>
          </a:p>
          <a:p>
            <a:pPr indent="0" algn="just">
              <a:lnSpc>
                <a:spcPts val="2600"/>
              </a:lnSpc>
              <a:buNone/>
            </a:pPr>
            <a:r>
              <a:rPr lang="en-US" altLang="en-US" dirty="0">
                <a:solidFill>
                  <a:schemeClr val="bg1"/>
                </a:solidFill>
              </a:rPr>
              <a:t>5. Dữ liệu (nội dung file) thường vẫn còn nguyên trên các cluster cho tới khi hệ thống ghi đè lên các cluster đó bằng dữ liệu mới. MFT record cũng có thể bị tái sử dụng và bị ghi đè.</a:t>
            </a:r>
            <a:endParaRPr lang="en-US" altLang="en-US" dirty="0">
              <a:solidFill>
                <a:schemeClr val="bg1"/>
              </a:solidFill>
            </a:endParaRPr>
          </a:p>
          <a:p>
            <a:pPr indent="0" algn="just">
              <a:lnSpc>
                <a:spcPts val="2600"/>
              </a:lnSpc>
              <a:buNone/>
            </a:pPr>
            <a:endParaRPr lang="en-US" altLang="en-US" dirty="0">
              <a:solidFill>
                <a:schemeClr val="bg1"/>
              </a:solidFill>
            </a:endParaRPr>
          </a:p>
        </p:txBody>
      </p:sp>
      <p:sp>
        <p:nvSpPr>
          <p:cNvPr id="6" name="Text 4"/>
          <p:cNvSpPr/>
          <p:nvPr/>
        </p:nvSpPr>
        <p:spPr>
          <a:xfrm>
            <a:off x="831056" y="3778448"/>
            <a:ext cx="5309592" cy="346234"/>
          </a:xfrm>
          <a:prstGeom prst="rect">
            <a:avLst/>
          </a:prstGeom>
          <a:noFill/>
        </p:spPr>
        <p:txBody>
          <a:bodyPr wrap="none" lIns="0" tIns="0" rIns="0" bIns="0" rtlCol="0" anchor="t"/>
          <a:lstStyle/>
          <a:p>
            <a:pPr marL="0" indent="0" algn="just">
              <a:lnSpc>
                <a:spcPts val="2700"/>
              </a:lnSpc>
              <a:buNone/>
            </a:pPr>
            <a:endParaRPr lang="en-US" sz="2400" dirty="0">
              <a:latin typeface="+mj-lt"/>
            </a:endParaRPr>
          </a:p>
        </p:txBody>
      </p:sp>
      <p:sp>
        <p:nvSpPr>
          <p:cNvPr id="15" name="Text Box 14"/>
          <p:cNvSpPr txBox="1"/>
          <p:nvPr/>
        </p:nvSpPr>
        <p:spPr>
          <a:xfrm>
            <a:off x="831215" y="4554855"/>
            <a:ext cx="8251825" cy="460375"/>
          </a:xfrm>
          <a:prstGeom prst="rect">
            <a:avLst/>
          </a:prstGeom>
          <a:noFill/>
        </p:spPr>
        <p:txBody>
          <a:bodyPr wrap="square" rtlCol="0">
            <a:spAutoFit/>
          </a:bodyPr>
          <a:lstStyle/>
          <a:p>
            <a:r>
              <a:rPr lang="en-US" altLang="en-US" sz="2400">
                <a:solidFill>
                  <a:srgbClr val="FFC000"/>
                </a:solidFill>
              </a:rPr>
              <a:t>Chi tiết cách làm (Phục hồi - Undelete):</a:t>
            </a:r>
            <a:endParaRPr lang="en-US" altLang="en-US" sz="2400">
              <a:solidFill>
                <a:srgbClr val="FFC000"/>
              </a:solidFill>
            </a:endParaRPr>
          </a:p>
        </p:txBody>
      </p:sp>
      <p:sp>
        <p:nvSpPr>
          <p:cNvPr id="16" name="Text Box 15"/>
          <p:cNvSpPr txBox="1"/>
          <p:nvPr/>
        </p:nvSpPr>
        <p:spPr>
          <a:xfrm>
            <a:off x="831215" y="5015230"/>
            <a:ext cx="13072110" cy="2311400"/>
          </a:xfrm>
          <a:prstGeom prst="rect">
            <a:avLst/>
          </a:prstGeom>
          <a:noFill/>
        </p:spPr>
        <p:txBody>
          <a:bodyPr wrap="square" rtlCol="0">
            <a:noAutofit/>
          </a:bodyPr>
          <a:lstStyle/>
          <a:p>
            <a:pPr indent="0" algn="just">
              <a:lnSpc>
                <a:spcPts val="2600"/>
              </a:lnSpc>
              <a:buSzPct val="100000"/>
              <a:buNone/>
            </a:pPr>
            <a:r>
              <a:rPr lang="en-US" altLang="en-US" dirty="0">
                <a:solidFill>
                  <a:schemeClr val="bg1"/>
                </a:solidFill>
                <a:sym typeface="+mn-ea"/>
              </a:rPr>
              <a:t>1. Đọc Boot Sector để biết vị trí của MFT record đầu tiên</a:t>
            </a:r>
            <a:endParaRPr lang="en-US" altLang="en-US" dirty="0">
              <a:solidFill>
                <a:schemeClr val="bg1"/>
              </a:solidFill>
            </a:endParaRPr>
          </a:p>
          <a:p>
            <a:pPr indent="0" algn="just">
              <a:lnSpc>
                <a:spcPts val="2600"/>
              </a:lnSpc>
              <a:buSzPct val="100000"/>
              <a:buNone/>
            </a:pPr>
            <a:r>
              <a:rPr lang="en-US" altLang="en-US" dirty="0">
                <a:solidFill>
                  <a:schemeClr val="bg1"/>
                </a:solidFill>
                <a:sym typeface="+mn-ea"/>
              </a:rPr>
              <a:t>2. Quét vùng MFT: Quét toàn bộ MFT để tìm các địa chỉ của các MFT record và phân tích nếu cờ “in-use = 0” thì nghĩa là file đó đã bị xóa</a:t>
            </a:r>
            <a:endParaRPr lang="en-US" altLang="en-US" dirty="0">
              <a:solidFill>
                <a:schemeClr val="bg1"/>
              </a:solidFill>
            </a:endParaRPr>
          </a:p>
          <a:p>
            <a:pPr indent="0" algn="just">
              <a:lnSpc>
                <a:spcPts val="2600"/>
              </a:lnSpc>
              <a:buSzPct val="100000"/>
              <a:buNone/>
            </a:pPr>
            <a:r>
              <a:rPr lang="en-US" altLang="en-US" dirty="0">
                <a:solidFill>
                  <a:schemeClr val="bg1"/>
                </a:solidFill>
                <a:sym typeface="+mn-ea"/>
              </a:rPr>
              <a:t>3. Đọc attribute $FILE_NAME lấy name_len, name_bytes sau đó decode ra tên file</a:t>
            </a:r>
            <a:endParaRPr lang="en-US" altLang="en-US" dirty="0">
              <a:solidFill>
                <a:schemeClr val="bg1"/>
              </a:solidFill>
            </a:endParaRPr>
          </a:p>
          <a:p>
            <a:pPr indent="0" algn="just">
              <a:lnSpc>
                <a:spcPts val="2600"/>
              </a:lnSpc>
              <a:buSzPct val="100000"/>
              <a:buNone/>
            </a:pPr>
            <a:r>
              <a:rPr lang="en-US" altLang="en-US" dirty="0">
                <a:solidFill>
                  <a:schemeClr val="bg1"/>
                </a:solidFill>
                <a:sym typeface="+mn-ea"/>
              </a:rPr>
              <a:t>4. Đọc attribute $DATA record chứa runlist (data runs) — chuỗi (LCN, length) chỉ tới cluster vật lý chứa nội dung file.</a:t>
            </a:r>
            <a:endParaRPr lang="en-US" altLang="en-US" dirty="0">
              <a:solidFill>
                <a:schemeClr val="bg1"/>
              </a:solidFill>
            </a:endParaRPr>
          </a:p>
          <a:p>
            <a:pPr indent="0" algn="just">
              <a:lnSpc>
                <a:spcPts val="2600"/>
              </a:lnSpc>
              <a:buSzPct val="100000"/>
              <a:buNone/>
            </a:pPr>
            <a:r>
              <a:rPr lang="en-US" altLang="en-US" dirty="0">
                <a:solidFill>
                  <a:schemeClr val="bg1"/>
                </a:solidFill>
                <a:sym typeface="+mn-ea"/>
              </a:rPr>
              <a:t>5. Đọc cluster và ghi ra file: Dùng offset = LCN × bytes_per_cluster để đọc toàn bộ cluster theo runlist và lưu thành file phục hồi.</a:t>
            </a:r>
            <a:endParaRPr lang="en-US" altLang="en-US" dirty="0">
              <a:solidFill>
                <a:schemeClr val="bg1"/>
              </a:solidFill>
            </a:endParaRPr>
          </a:p>
          <a:p>
            <a:pPr indent="0" algn="just">
              <a:lnSpc>
                <a:spcPts val="2600"/>
              </a:lnSpc>
              <a:buSzPct val="100000"/>
              <a:buNone/>
            </a:pPr>
            <a:endParaRPr lang="en-US" altLang="en-US" dirty="0">
              <a:solidFill>
                <a:schemeClr val="bg1"/>
              </a:solidFill>
            </a:endParaRPr>
          </a:p>
          <a:p>
            <a:pPr indent="0">
              <a:buNone/>
            </a:pPr>
            <a:endParaRPr lang="en-US" dirty="0"/>
          </a:p>
        </p:txBody>
      </p:sp>
      <p:sp>
        <p:nvSpPr>
          <p:cNvPr id="8" name="TextBox 7"/>
          <p:cNvSpPr txBox="1"/>
          <p:nvPr/>
        </p:nvSpPr>
        <p:spPr>
          <a:xfrm>
            <a:off x="52070" y="7660397"/>
            <a:ext cx="7315200" cy="481542"/>
          </a:xfrm>
          <a:prstGeom prst="rect">
            <a:avLst/>
          </a:prstGeom>
          <a:noFill/>
        </p:spPr>
        <p:txBody>
          <a:bodyPr wrap="square">
            <a:spAutoFit/>
          </a:bodyPr>
          <a:lstStyle/>
          <a:p>
            <a:pPr marL="0" indent="0" algn="l">
              <a:lnSpc>
                <a:spcPts val="3450"/>
              </a:lnSpc>
              <a:buNone/>
            </a:pPr>
            <a:r>
              <a:rPr lang="vi-VN" sz="1800" dirty="0">
                <a:solidFill>
                  <a:srgbClr val="D7D4CC"/>
                </a:solidFill>
                <a:ea typeface="Raleway Medium" pitchFamily="34" charset="-122"/>
                <a:cs typeface="Raleway Medium" pitchFamily="34" charset="-120"/>
              </a:rPr>
              <a:t>12</a:t>
            </a:r>
            <a:endParaRPr lang="vi-VN" sz="1800" dirty="0">
              <a:solidFill>
                <a:srgbClr val="D7D4CC"/>
              </a:solidFill>
              <a:ea typeface="Raleway Medium" pitchFamily="34" charset="-122"/>
              <a:cs typeface="Raleway Medium" pitchFamily="34"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063" y="1919169"/>
            <a:ext cx="12868275" cy="1321594"/>
          </a:xfrm>
          <a:prstGeom prst="rect">
            <a:avLst/>
          </a:prstGeom>
          <a:noFill/>
        </p:spPr>
        <p:txBody>
          <a:bodyPr wrap="square" lIns="0" tIns="0" rIns="0" bIns="0" rtlCol="0" anchor="t"/>
          <a:lstStyle/>
          <a:p>
            <a:pPr marL="0" indent="0" algn="ctr">
              <a:lnSpc>
                <a:spcPts val="9600"/>
              </a:lnSpc>
              <a:buNone/>
            </a:pPr>
            <a:r>
              <a:rPr lang="en-US" sz="8000" b="1" dirty="0">
                <a:solidFill>
                  <a:srgbClr val="FFE14D"/>
                </a:solidFill>
                <a:latin typeface="+mj-lt"/>
                <a:ea typeface="Comfortaa Bold" pitchFamily="34" charset="-122"/>
                <a:cs typeface="Comfortaa Bold" pitchFamily="34" charset="-120"/>
              </a:rPr>
              <a:t>Thank You For Your Watching!</a:t>
            </a:r>
            <a:endParaRPr lang="en-US" sz="8000" dirty="0">
              <a:latin typeface="+mj-lt"/>
            </a:endParaRPr>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1063" y="4807148"/>
            <a:ext cx="660797" cy="660797"/>
          </a:xfrm>
          <a:prstGeom prst="rect">
            <a:avLst/>
          </a:prstGeom>
        </p:spPr>
      </p:pic>
      <p:sp>
        <p:nvSpPr>
          <p:cNvPr id="4" name="Text 1"/>
          <p:cNvSpPr/>
          <p:nvPr/>
        </p:nvSpPr>
        <p:spPr>
          <a:xfrm>
            <a:off x="1817131" y="4530798"/>
            <a:ext cx="11932206" cy="352425"/>
          </a:xfrm>
          <a:prstGeom prst="rect">
            <a:avLst/>
          </a:prstGeom>
          <a:noFill/>
        </p:spPr>
        <p:txBody>
          <a:bodyPr wrap="none" lIns="0" tIns="0" rIns="0" bIns="0" rtlCol="0" anchor="t"/>
          <a:lstStyle/>
          <a:p>
            <a:pPr marL="0" indent="0" algn="ctr">
              <a:lnSpc>
                <a:spcPts val="2750"/>
              </a:lnSpc>
              <a:buNone/>
            </a:pPr>
            <a:r>
              <a:rPr lang="en-US" sz="2000" dirty="0">
                <a:solidFill>
                  <a:srgbClr val="D7D4CC"/>
                </a:solidFill>
                <a:ea typeface="Raleway Medium" pitchFamily="34" charset="-122"/>
                <a:cs typeface="Raleway Medium" pitchFamily="34" charset="-120"/>
              </a:rPr>
              <a:t>Cảm ơn các bạn đã theo dõi bài thuyết trình về Hệ Thống Tập Tin</a:t>
            </a:r>
            <a:endParaRPr lang="en-US" sz="2000" dirty="0"/>
          </a:p>
        </p:txBody>
      </p:sp>
      <p:sp>
        <p:nvSpPr>
          <p:cNvPr id="5" name="Text 2"/>
          <p:cNvSpPr/>
          <p:nvPr/>
        </p:nvSpPr>
        <p:spPr>
          <a:xfrm>
            <a:off x="1817131" y="5015382"/>
            <a:ext cx="11932206" cy="352425"/>
          </a:xfrm>
          <a:prstGeom prst="rect">
            <a:avLst/>
          </a:prstGeom>
          <a:noFill/>
        </p:spPr>
        <p:txBody>
          <a:bodyPr wrap="none" lIns="0" tIns="0" rIns="0" bIns="0" rtlCol="0" anchor="t"/>
          <a:lstStyle/>
          <a:p>
            <a:pPr marL="0" indent="0" algn="ctr">
              <a:lnSpc>
                <a:spcPts val="2750"/>
              </a:lnSpc>
              <a:buNone/>
            </a:pPr>
            <a:r>
              <a:rPr lang="en-US" sz="2000" dirty="0">
                <a:solidFill>
                  <a:srgbClr val="D7D4CC"/>
                </a:solidFill>
                <a:ea typeface="Raleway Medium" pitchFamily="34" charset="-122"/>
                <a:cs typeface="Raleway Medium" pitchFamily="34" charset="-120"/>
              </a:rPr>
              <a:t>Hy vọng nội dung đã cung cấp kiến thức hữu ích về NTFS và kỹ thuật phục hồi dữ liệu</a:t>
            </a:r>
            <a:endParaRPr lang="en-US" sz="2000" dirty="0"/>
          </a:p>
        </p:txBody>
      </p:sp>
      <p:sp>
        <p:nvSpPr>
          <p:cNvPr id="6" name="Text 3"/>
          <p:cNvSpPr/>
          <p:nvPr/>
        </p:nvSpPr>
        <p:spPr>
          <a:xfrm>
            <a:off x="1817131" y="5499967"/>
            <a:ext cx="11932206" cy="352425"/>
          </a:xfrm>
          <a:prstGeom prst="rect">
            <a:avLst/>
          </a:prstGeom>
          <a:noFill/>
        </p:spPr>
        <p:txBody>
          <a:bodyPr wrap="none" lIns="0" tIns="0" rIns="0" bIns="0" rtlCol="0" anchor="t"/>
          <a:lstStyle/>
          <a:p>
            <a:pPr marL="0" indent="0" algn="ctr">
              <a:lnSpc>
                <a:spcPts val="2750"/>
              </a:lnSpc>
              <a:buNone/>
            </a:pPr>
            <a:r>
              <a:rPr lang="en-US" sz="2000" dirty="0">
                <a:solidFill>
                  <a:srgbClr val="D7D4CC"/>
                </a:solidFill>
                <a:ea typeface="Raleway Medium" pitchFamily="34" charset="-122"/>
                <a:cs typeface="Raleway Medium" pitchFamily="34" charset="-120"/>
              </a:rPr>
              <a:t>Chúc các bạn học tập tốt!</a:t>
            </a:r>
            <a:endParaRPr lang="en-US" sz="2000" dirty="0"/>
          </a:p>
        </p:txBody>
      </p:sp>
    </p:spTree>
  </p:cSld>
  <p:clrMapOvr>
    <a:masterClrMapping/>
  </p:clrMapOvr>
</p:sld>
</file>

<file path=ppt/tags/tag1.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2.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3.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4.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5.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6.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7.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8.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9.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10.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11.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12.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13.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14.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15.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16.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17.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18.xml><?xml version="1.0" encoding="utf-8"?>
<p:tagLst xmlns:p="http://schemas.openxmlformats.org/presentationml/2006/main">
  <p:tag name="KSO_WM_DIAGRAM_VIRTUALLY_FRAME" val="{&quot;height&quot;:151.36874015748026,&quot;left&quot;:69.37503937007874,&quot;top&quot;:289.7531496062992,&quot;width&quot;:1013.2406299212598}"/>
</p:tagLst>
</file>

<file path=ppt/tags/tag19.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20.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21.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22.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23.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24.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25.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26.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27.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28.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29.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30.xml><?xml version="1.0" encoding="utf-8"?>
<p:tagLst xmlns:p="http://schemas.openxmlformats.org/presentationml/2006/main">
  <p:tag name="KSO_WM_DIAGRAM_VIRTUALLY_FRAME" val="{&quot;height&quot;:337.6125196850394,&quot;left&quot;:69.37503937007874,&quot;top&quot;:196.63125984251968,&quot;width&quot;:1013.2499212598426}"/>
</p:tagLst>
</file>

<file path=ppt/tags/tag31.xml><?xml version="1.0" encoding="utf-8"?>
<p:tagLst xmlns:p="http://schemas.openxmlformats.org/presentationml/2006/main">
  <p:tag name="TABLE_ENDDRAG_ORIGIN_RECT" val="810*511"/>
  <p:tag name="TABLE_ENDDRAG_RECT" val="0*0*810*511"/>
</p:tagLst>
</file>

<file path=ppt/tags/tag32.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33.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34.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35.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36.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37.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38.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39.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40.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41.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42.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43.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44.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ags/tag45.xml><?xml version="1.0" encoding="utf-8"?>
<p:tagLst xmlns:p="http://schemas.openxmlformats.org/presentationml/2006/main">
  <p:tag name="KSO_WM_DIAGRAM_VIRTUALLY_FRAME" val="{&quot;height&quot;:369.01165354330703,&quot;left&quot;:69.37503937007874,&quot;top&quot;:193.05937007874016,&quot;width&quot;:1013.249921259842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7376</Words>
  <Application>WPS Presentation</Application>
  <PresentationFormat>Custom</PresentationFormat>
  <Paragraphs>284</Paragraphs>
  <Slides>13</Slides>
  <Notes>12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13</vt:i4>
      </vt:variant>
    </vt:vector>
  </HeadingPairs>
  <TitlesOfParts>
    <vt:vector size="30" baseType="lpstr">
      <vt:lpstr>Arial</vt:lpstr>
      <vt:lpstr>SimSun</vt:lpstr>
      <vt:lpstr>Wingdings</vt:lpstr>
      <vt:lpstr>ADLaM Display</vt:lpstr>
      <vt:lpstr>Calibri</vt:lpstr>
      <vt:lpstr>Raleway Medium</vt:lpstr>
      <vt:lpstr>Raleway Medium</vt:lpstr>
      <vt:lpstr>Comfortaa Bold</vt:lpstr>
      <vt:lpstr>Comfortaa Bold</vt:lpstr>
      <vt:lpstr>Times New Roman</vt:lpstr>
      <vt:lpstr>Calibri Light</vt:lpstr>
      <vt:lpstr>Microsoft YaHei</vt:lpstr>
      <vt:lpstr>Arial Unicode MS</vt:lpstr>
      <vt:lpstr>Aptos</vt:lpstr>
      <vt:lpstr>Segoe UI</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WPS_1692190906</cp:lastModifiedBy>
  <cp:revision>11</cp:revision>
  <dcterms:created xsi:type="dcterms:W3CDTF">2025-11-10T02:06:00Z</dcterms:created>
  <dcterms:modified xsi:type="dcterms:W3CDTF">2025-11-25T03:08:35Z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87A398C4A118441B96225AB6B396E75B_12</vt:lpwstr>
  </property>
  <property fmtid="{D5CDD505-2E9C-101B-9397-08002B2CF9AE}" pid="3" name="KSOProductBuildVer">
    <vt:lpwstr>1033-12.2.0.23155</vt:lpwstr>
  </property>
</Properties>
</file>